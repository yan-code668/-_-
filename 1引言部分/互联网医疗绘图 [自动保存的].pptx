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9" r:id="rId3"/>
    <p:sldId id="267" r:id="rId4"/>
    <p:sldId id="269" r:id="rId5"/>
    <p:sldId id="265" r:id="rId6"/>
    <p:sldId id="262" r:id="rId8"/>
    <p:sldId id="260" r:id="rId9"/>
    <p:sldId id="266" r:id="rId10"/>
    <p:sldId id="274" r:id="rId11"/>
    <p:sldId id="275" r:id="rId12"/>
    <p:sldId id="278" r:id="rId13"/>
    <p:sldId id="277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3F0"/>
    <a:srgbClr val="9BCEDD"/>
    <a:srgbClr val="7ABFCA"/>
    <a:srgbClr val="54B0BC"/>
    <a:srgbClr val="82ACD3"/>
    <a:srgbClr val="9DC3E6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0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ad370a4abf41c41f/&#26700;&#38754;/da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[dat.xlsx]工作表1!樞紐分析表1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>
                <a:latin typeface="阿里妈妈数黑体" pitchFamily="2" charset="-122"/>
                <a:ea typeface="阿里妈妈数黑体" pitchFamily="2" charset="-122"/>
              </a:rPr>
              <a:t>互联网医疗相关政策统计</a:t>
            </a:r>
            <a:endParaRPr lang="zh-CN" altLang="en-US">
              <a:latin typeface="阿里妈妈数黑体" pitchFamily="2" charset="-122"/>
              <a:ea typeface="阿里妈妈数黑体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新冠后：规范阶段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工作表1!$A$2:$A$20</c:f>
              <c:multiLvlStrCache>
                <c:ptCount val="15"/>
                <c:lvl>
                  <c:pt idx="0">
                    <c:v>基础设施建设</c:v>
                  </c:pt>
                  <c:pt idx="1">
                    <c:v>信息技术支持</c:v>
                  </c:pt>
                  <c:pt idx="2">
                    <c:v>公共服务</c:v>
                  </c:pt>
                  <c:pt idx="3">
                    <c:v>资金投入</c:v>
                  </c:pt>
                  <c:pt idx="4">
                    <c:v>人才培养</c:v>
                  </c:pt>
                  <c:pt idx="5">
                    <c:v>法规管制</c:v>
                  </c:pt>
                  <c:pt idx="6">
                    <c:v>技术标准</c:v>
                  </c:pt>
                  <c:pt idx="7">
                    <c:v>组织实现</c:v>
                  </c:pt>
                  <c:pt idx="8">
                    <c:v>宣传推广</c:v>
                  </c:pt>
                  <c:pt idx="9">
                    <c:v>目标规划</c:v>
                  </c:pt>
                  <c:pt idx="10">
                    <c:v>医保支付</c:v>
                  </c:pt>
                  <c:pt idx="11">
                    <c:v>对口支援</c:v>
                  </c:pt>
                  <c:pt idx="12">
                    <c:v>试点\示范</c:v>
                  </c:pt>
                  <c:pt idx="13">
                    <c:v>公私合作</c:v>
                  </c:pt>
                  <c:pt idx="14">
                    <c:v>国际交流合作</c:v>
                  </c:pt>
                </c:lvl>
                <c:lvl>
                  <c:pt idx="0">
                    <c:v>供给型</c:v>
                  </c:pt>
                  <c:pt idx="5">
                    <c:v>环境型</c:v>
                  </c:pt>
                  <c:pt idx="10">
                    <c:v>需求型</c:v>
                  </c:pt>
                </c:lvl>
              </c:multiLvlStrCache>
            </c:multiLvlStrRef>
          </c:cat>
          <c:val>
            <c:numRef>
              <c:f>工作表1!$B$2:$B$20</c:f>
              <c:numCache>
                <c:formatCode>General</c:formatCode>
                <c:ptCount val="15"/>
                <c:pt idx="0">
                  <c:v>41</c:v>
                </c:pt>
                <c:pt idx="1">
                  <c:v>15</c:v>
                </c:pt>
                <c:pt idx="2">
                  <c:v>14</c:v>
                </c:pt>
                <c:pt idx="3">
                  <c:v>4</c:v>
                </c:pt>
                <c:pt idx="4">
                  <c:v>2</c:v>
                </c:pt>
                <c:pt idx="5">
                  <c:v>21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0</c:v>
                </c:pt>
                <c:pt idx="10">
                  <c:v>18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新冠前：发展阶段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工作表1!$A$2:$A$20</c:f>
              <c:multiLvlStrCache>
                <c:ptCount val="15"/>
                <c:lvl>
                  <c:pt idx="0">
                    <c:v>基础设施建设</c:v>
                  </c:pt>
                  <c:pt idx="1">
                    <c:v>信息技术支持</c:v>
                  </c:pt>
                  <c:pt idx="2">
                    <c:v>公共服务</c:v>
                  </c:pt>
                  <c:pt idx="3">
                    <c:v>资金投入</c:v>
                  </c:pt>
                  <c:pt idx="4">
                    <c:v>人才培养</c:v>
                  </c:pt>
                  <c:pt idx="5">
                    <c:v>法规管制</c:v>
                  </c:pt>
                  <c:pt idx="6">
                    <c:v>技术标准</c:v>
                  </c:pt>
                  <c:pt idx="7">
                    <c:v>组织实现</c:v>
                  </c:pt>
                  <c:pt idx="8">
                    <c:v>宣传推广</c:v>
                  </c:pt>
                  <c:pt idx="9">
                    <c:v>目标规划</c:v>
                  </c:pt>
                  <c:pt idx="10">
                    <c:v>医保支付</c:v>
                  </c:pt>
                  <c:pt idx="11">
                    <c:v>对口支援</c:v>
                  </c:pt>
                  <c:pt idx="12">
                    <c:v>试点\示范</c:v>
                  </c:pt>
                  <c:pt idx="13">
                    <c:v>公私合作</c:v>
                  </c:pt>
                  <c:pt idx="14">
                    <c:v>国际交流合作</c:v>
                  </c:pt>
                </c:lvl>
                <c:lvl>
                  <c:pt idx="0">
                    <c:v>供给型</c:v>
                  </c:pt>
                  <c:pt idx="5">
                    <c:v>环境型</c:v>
                  </c:pt>
                  <c:pt idx="10">
                    <c:v>需求型</c:v>
                  </c:pt>
                </c:lvl>
              </c:multiLvlStrCache>
            </c:multiLvlStrRef>
          </c:cat>
          <c:val>
            <c:numRef>
              <c:f>工作表1!$C$2:$C$20</c:f>
              <c:numCache>
                <c:formatCode>General</c:formatCode>
                <c:ptCount val="15"/>
                <c:pt idx="0">
                  <c:v>16</c:v>
                </c:pt>
                <c:pt idx="1">
                  <c:v>11</c:v>
                </c:pt>
                <c:pt idx="2">
                  <c:v>18</c:v>
                </c:pt>
                <c:pt idx="3">
                  <c:v>1</c:v>
                </c:pt>
                <c:pt idx="4">
                  <c:v>3</c:v>
                </c:pt>
                <c:pt idx="5">
                  <c:v>6</c:v>
                </c:pt>
                <c:pt idx="6">
                  <c:v>3</c:v>
                </c:pt>
                <c:pt idx="7">
                  <c:v>2</c:v>
                </c:pt>
                <c:pt idx="8">
                  <c:v>3</c:v>
                </c:pt>
                <c:pt idx="9">
                  <c:v>5</c:v>
                </c:pt>
                <c:pt idx="10">
                  <c:v>0</c:v>
                </c:pt>
                <c:pt idx="11">
                  <c:v>11</c:v>
                </c:pt>
                <c:pt idx="12">
                  <c:v>3</c:v>
                </c:pt>
                <c:pt idx="13">
                  <c:v>4</c:v>
                </c:pt>
                <c:pt idx="1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310250783"/>
        <c:axId val="310944991"/>
      </c:barChart>
      <c:catAx>
        <c:axId val="31025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字体圈伟君黑 W1" pitchFamily="2" charset="-122"/>
                <a:ea typeface="字体圈伟君黑 W1" pitchFamily="2" charset="-122"/>
                <a:cs typeface="+mn-cs"/>
              </a:defRPr>
            </a:pPr>
          </a:p>
        </c:txPr>
        <c:crossAx val="310944991"/>
        <c:crosses val="autoZero"/>
        <c:auto val="1"/>
        <c:lblAlgn val="ctr"/>
        <c:lblOffset val="100"/>
        <c:noMultiLvlLbl val="0"/>
      </c:catAx>
      <c:valAx>
        <c:axId val="310944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r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字体圈伟君黑 W1" pitchFamily="2" charset="-122"/>
                    <a:ea typeface="字体圈伟君黑 W1" pitchFamily="2" charset="-122"/>
                    <a:cs typeface="+mn-cs"/>
                  </a:defRPr>
                </a:pPr>
                <a:r>
                  <a:rPr lang="zh-CN" altLang="en-US" dirty="0">
                    <a:latin typeface="字体圈伟君黑 W1" pitchFamily="2" charset="-122"/>
                    <a:ea typeface="字体圈伟君黑 W1" pitchFamily="2" charset="-122"/>
                  </a:rPr>
                  <a:t>相关类别政策数量</a:t>
                </a:r>
                <a:endParaRPr lang="zh-CN" altLang="en-US" dirty="0">
                  <a:latin typeface="字体圈伟君黑 W1" pitchFamily="2" charset="-122"/>
                  <a:ea typeface="字体圈伟君黑 W1" pitchFamily="2" charset="-122"/>
                </a:endParaRPr>
              </a:p>
            </c:rich>
          </c:tx>
          <c:layout>
            <c:manualLayout>
              <c:xMode val="edge"/>
              <c:yMode val="edge"/>
              <c:x val="0.452769137130086"/>
              <c:y val="0.94019242275566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025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altLang="zh-CN" sz="900" b="0" i="0" u="none" strike="noStrike" kern="1200" cap="all" baseline="0">
              <a:solidFill>
                <a:sysClr val="windowText" lastClr="000000">
                  <a:lumMod val="65000"/>
                  <a:lumOff val="35000"/>
                </a:sysClr>
              </a:solidFill>
              <a:latin typeface="仓迹高德国妙黑" pitchFamily="2" charset="-122"/>
              <a:ea typeface="仓迹高德国妙黑" pitchFamily="2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F6759-444F-4BC1-ABDE-1B0C562396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670FB-5A94-45E5-A37E-B06E8043FC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670FB-5A94-45E5-A37E-B06E8043FC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D326-FC99-4043-9727-BF984DF1E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DB894-F8A7-434D-9B36-13306272E6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26.png"/><Relationship Id="rId25" Type="http://schemas.openxmlformats.org/officeDocument/2006/relationships/image" Target="../media/image43.png"/><Relationship Id="rId24" Type="http://schemas.openxmlformats.org/officeDocument/2006/relationships/image" Target="../media/image42.png"/><Relationship Id="rId23" Type="http://schemas.openxmlformats.org/officeDocument/2006/relationships/image" Target="../media/image23.png"/><Relationship Id="rId22" Type="http://schemas.openxmlformats.org/officeDocument/2006/relationships/image" Target="../media/image41.png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image" Target="../media/image28.png"/><Relationship Id="rId19" Type="http://schemas.openxmlformats.org/officeDocument/2006/relationships/image" Target="../media/image6.png"/><Relationship Id="rId18" Type="http://schemas.openxmlformats.org/officeDocument/2006/relationships/image" Target="../media/image40.png"/><Relationship Id="rId17" Type="http://schemas.openxmlformats.org/officeDocument/2006/relationships/image" Target="../media/image39.png"/><Relationship Id="rId16" Type="http://schemas.openxmlformats.org/officeDocument/2006/relationships/image" Target="../media/image20.png"/><Relationship Id="rId15" Type="http://schemas.openxmlformats.org/officeDocument/2006/relationships/image" Target="../media/image38.png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16.png"/><Relationship Id="rId11" Type="http://schemas.openxmlformats.org/officeDocument/2006/relationships/image" Target="../media/image35.png"/><Relationship Id="rId10" Type="http://schemas.openxmlformats.org/officeDocument/2006/relationships/image" Target="../media/image5.png"/><Relationship Id="rId1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3.png"/><Relationship Id="rId6" Type="http://schemas.openxmlformats.org/officeDocument/2006/relationships/tags" Target="../tags/tag4.xml"/><Relationship Id="rId5" Type="http://schemas.openxmlformats.org/officeDocument/2006/relationships/image" Target="../media/image52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51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22514" y="2977493"/>
            <a:ext cx="1451113" cy="9442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10748" y="3126435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solidFill>
                  <a:schemeClr val="bg1"/>
                </a:solidFill>
              </a:rPr>
              <a:t>互联网</a:t>
            </a:r>
            <a:endParaRPr lang="en-US" altLang="zh-CN" b="1" smtClean="0">
              <a:solidFill>
                <a:schemeClr val="bg1"/>
              </a:solidFill>
            </a:endParaRPr>
          </a:p>
          <a:p>
            <a:pPr algn="ctr"/>
            <a:r>
              <a:rPr lang="zh-CN" altLang="en-US" b="1" smtClean="0">
                <a:solidFill>
                  <a:schemeClr val="bg1"/>
                </a:solidFill>
              </a:rPr>
              <a:t>医疗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2802834" y="751128"/>
            <a:ext cx="894523" cy="5456582"/>
          </a:xfrm>
          <a:prstGeom prst="leftBrace">
            <a:avLst>
              <a:gd name="adj1" fmla="val 7500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826564" y="602043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826564" y="1789696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826564" y="2977350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826564" y="4165004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826564" y="5352658"/>
            <a:ext cx="1252332" cy="95415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81574" y="1959021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75995" y="779168"/>
            <a:ext cx="68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15407" y="3156253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药品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15407" y="4318916"/>
            <a:ext cx="8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保险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56381" y="5506570"/>
            <a:ext cx="119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</a:t>
            </a:r>
            <a:endParaRPr lang="en-US" altLang="zh-CN" b="1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健康服务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479775" y="611982"/>
            <a:ext cx="3972338" cy="9442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605669" y="640669"/>
            <a:ext cx="384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互联网</a:t>
            </a:r>
            <a:r>
              <a:rPr lang="zh-CN" altLang="en-US" smtClean="0">
                <a:solidFill>
                  <a:schemeClr val="bg1"/>
                </a:solidFill>
              </a:rPr>
              <a:t>公司和企业申办的互联网在线问诊平台，开展远程医疗信息咨询服务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479774" y="2986827"/>
            <a:ext cx="3972339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605669" y="3024220"/>
            <a:ext cx="392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线上开具的常用药、慢性病处方，经药师审核后，医疗机构、药品经营企业委托合规的第三方配送的服务</a:t>
            </a:r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5479774" y="4174943"/>
            <a:ext cx="3972338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605670" y="4318916"/>
            <a:ext cx="3846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与互联网医院签约，可以享受网上门诊统筹等待遇的服务</a:t>
            </a:r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5479774" y="5375584"/>
            <a:ext cx="3972338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605670" y="5396471"/>
            <a:ext cx="3846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通过互联网渠道为健康、慢病等人群，提供专业健康教育、疾病监测随访、延伸处方等服务</a:t>
            </a:r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 flipH="1">
            <a:off x="9578006" y="691496"/>
            <a:ext cx="824947" cy="775250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0528848" y="779168"/>
            <a:ext cx="1191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accent1"/>
                </a:solidFill>
              </a:rPr>
              <a:t>本文主要研究范畴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479774" y="1828304"/>
            <a:ext cx="3972339" cy="94421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96433" y="1836104"/>
            <a:ext cx="3846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包括作为实体医疗机构第二名称的互联网医院，以及依托实体医疗机构独立设置的互联网医院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069" y="2256815"/>
            <a:ext cx="1841869" cy="444021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t="3429" r="15439" b="48089"/>
          <a:stretch>
            <a:fillRect/>
          </a:stretch>
        </p:blipFill>
        <p:spPr>
          <a:xfrm>
            <a:off x="5392384" y="2960791"/>
            <a:ext cx="675798" cy="45522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t="50526" r="9876" b="3991"/>
          <a:stretch>
            <a:fillRect/>
          </a:stretch>
        </p:blipFill>
        <p:spPr>
          <a:xfrm>
            <a:off x="6043682" y="2970930"/>
            <a:ext cx="833711" cy="48323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062" y="2101772"/>
            <a:ext cx="1931351" cy="667451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220" y="1457255"/>
            <a:ext cx="1508474" cy="57934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29" y="1417327"/>
            <a:ext cx="1516959" cy="60458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957" y="2192387"/>
            <a:ext cx="495641" cy="48133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055" y="1436273"/>
            <a:ext cx="1497541" cy="57934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025" y="2960791"/>
            <a:ext cx="1684278" cy="483233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54"/>
          <a:stretch>
            <a:fillRect/>
          </a:stretch>
        </p:blipFill>
        <p:spPr>
          <a:xfrm>
            <a:off x="1698257" y="2923483"/>
            <a:ext cx="910270" cy="467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45"/>
          <a:stretch>
            <a:fillRect/>
          </a:stretch>
        </p:blipFill>
        <p:spPr>
          <a:xfrm>
            <a:off x="2426026" y="2944877"/>
            <a:ext cx="1349112" cy="473818"/>
          </a:xfrm>
          <a:prstGeom prst="rect">
            <a:avLst/>
          </a:prstGeom>
        </p:spPr>
      </p:pic>
      <p:sp>
        <p:nvSpPr>
          <p:cNvPr id="60" name="圆角矩形 59"/>
          <p:cNvSpPr/>
          <p:nvPr/>
        </p:nvSpPr>
        <p:spPr>
          <a:xfrm>
            <a:off x="4938581" y="776464"/>
            <a:ext cx="4955500" cy="3017890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825" y="2220910"/>
            <a:ext cx="2842248" cy="515829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13" y="1566198"/>
            <a:ext cx="1830934" cy="467472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flipH="1">
            <a:off x="10076003" y="1432010"/>
            <a:ext cx="824947" cy="775250"/>
          </a:xfrm>
          <a:prstGeom prst="rightArrow">
            <a:avLst/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00950" y="1496469"/>
            <a:ext cx="1191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smtClean="0">
                <a:solidFill>
                  <a:schemeClr val="accent1"/>
                </a:solidFill>
              </a:rPr>
              <a:t>本文主要研究范畴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46" y="1543711"/>
            <a:ext cx="1605122" cy="51244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52" y="4785729"/>
            <a:ext cx="1479156" cy="500608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5" y="5549954"/>
            <a:ext cx="1850353" cy="47099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70" y="5566159"/>
            <a:ext cx="851378" cy="43858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0" y="4779518"/>
            <a:ext cx="952181" cy="50941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64" y="4785835"/>
            <a:ext cx="1160880" cy="52138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768" y="4779518"/>
            <a:ext cx="1414033" cy="482242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036" y="5625875"/>
            <a:ext cx="1443936" cy="497356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72" y="5580412"/>
            <a:ext cx="1431096" cy="51042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802" y="4782996"/>
            <a:ext cx="1368763" cy="429612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868" y="5467782"/>
            <a:ext cx="1403821" cy="406771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00" y="5521180"/>
            <a:ext cx="1608102" cy="324051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826" y="4820744"/>
            <a:ext cx="1377585" cy="399789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>
          <a:xfrm>
            <a:off x="748499" y="782258"/>
            <a:ext cx="3974248" cy="3012096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7068970" y="4010873"/>
            <a:ext cx="3013831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3772485" y="4010873"/>
            <a:ext cx="3129850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592018" y="4002492"/>
            <a:ext cx="3008257" cy="2275722"/>
          </a:xfrm>
          <a:prstGeom prst="round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34902" y="887275"/>
            <a:ext cx="149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90654" y="918550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99402" y="4107929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互联网药品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46137" y="4120076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互联网保险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67105" y="4107929"/>
            <a:ext cx="189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慢病管理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 rot="2406023">
            <a:off x="6069421" y="501044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 rot="2406023">
            <a:off x="6187130" y="208113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 rot="2406023">
            <a:off x="6257891" y="366969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 rot="2406023">
            <a:off x="6367093" y="522301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 rot="2406023">
            <a:off x="7866949" y="463682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 rot="2406023">
            <a:off x="7984658" y="204377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 rot="2406023">
            <a:off x="8055419" y="363233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 rot="2406023">
            <a:off x="8164621" y="518565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 rot="2406023">
            <a:off x="8790118" y="1206859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 rot="2406023">
            <a:off x="8911264" y="2834017"/>
            <a:ext cx="1109836" cy="1060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 rot="2406023">
            <a:off x="9027456" y="440962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 rot="2406023">
            <a:off x="2477338" y="54084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 rot="2406023">
            <a:off x="2595047" y="212093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 rot="2406023">
            <a:off x="2665808" y="370949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 rot="2406023">
            <a:off x="2775010" y="526281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 rot="2406023">
            <a:off x="3400507" y="128401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 rot="2406023">
            <a:off x="3521653" y="291117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 rot="2406023">
            <a:off x="3637845" y="448678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 rot="2406023">
            <a:off x="701181" y="58048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 rot="2406023">
            <a:off x="818890" y="216057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 rot="2406023">
            <a:off x="889651" y="374913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 rot="2406023">
            <a:off x="998853" y="530245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 rot="2406023">
            <a:off x="1624350" y="1323657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 rot="2406023">
            <a:off x="1745496" y="295081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 rot="2406023">
            <a:off x="1861688" y="4526423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06" y="907192"/>
            <a:ext cx="1140540" cy="364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54"/>
          <a:stretch>
            <a:fillRect/>
          </a:stretch>
        </p:blipFill>
        <p:spPr>
          <a:xfrm>
            <a:off x="652315" y="2527035"/>
            <a:ext cx="536834" cy="2755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45"/>
          <a:stretch>
            <a:fillRect/>
          </a:stretch>
        </p:blipFill>
        <p:spPr>
          <a:xfrm>
            <a:off x="1136545" y="2554204"/>
            <a:ext cx="795641" cy="279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200" y="2529221"/>
            <a:ext cx="1263599" cy="22932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23645" y="1664784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互联网医院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21" y="963469"/>
            <a:ext cx="1153925" cy="294619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027" y="2427423"/>
            <a:ext cx="1079097" cy="26013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918770" y="3141129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在线诊疗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t="3429" r="15439" b="48089"/>
          <a:stretch>
            <a:fillRect/>
          </a:stretch>
        </p:blipFill>
        <p:spPr>
          <a:xfrm>
            <a:off x="8286372" y="5607911"/>
            <a:ext cx="391700" cy="263854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t="50526" r="9876" b="3991"/>
          <a:stretch>
            <a:fillRect/>
          </a:stretch>
        </p:blipFill>
        <p:spPr>
          <a:xfrm>
            <a:off x="8642161" y="5609776"/>
            <a:ext cx="483228" cy="28008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452" y="3959259"/>
            <a:ext cx="1035769" cy="357949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289" y="786755"/>
            <a:ext cx="1003908" cy="385558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756291" y="4849234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互联网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药品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51" y="4089002"/>
            <a:ext cx="1003198" cy="33952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07" y="5732376"/>
            <a:ext cx="1193276" cy="303743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418" y="5637787"/>
            <a:ext cx="603019" cy="310646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77" y="4132736"/>
            <a:ext cx="749727" cy="401104"/>
          </a:xfrm>
          <a:prstGeom prst="rect">
            <a:avLst/>
          </a:prstGeom>
        </p:spPr>
      </p:pic>
      <p:sp>
        <p:nvSpPr>
          <p:cNvPr id="80" name="矩形 79"/>
          <p:cNvSpPr/>
          <p:nvPr/>
        </p:nvSpPr>
        <p:spPr>
          <a:xfrm rot="2406023">
            <a:off x="4271892" y="520942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 rot="2406023">
            <a:off x="4389601" y="210103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 rot="2406023">
            <a:off x="4460362" y="3689595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 rot="2406023">
            <a:off x="4569564" y="524291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 rot="2406023">
            <a:off x="5195061" y="1264119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 rot="2406023">
            <a:off x="5316207" y="2891277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 rot="2406023">
            <a:off x="5432399" y="4466885"/>
            <a:ext cx="1109836" cy="1060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 rot="2406023">
            <a:off x="9646043" y="433170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 rot="2406023">
            <a:off x="9763752" y="201326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 rot="2406023">
            <a:off x="9834513" y="3601823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 rot="2406023">
            <a:off x="9943715" y="5155141"/>
            <a:ext cx="1109836" cy="106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5069735" y="1618485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互联网保险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451251" y="4811888"/>
            <a:ext cx="13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慢</a:t>
            </a:r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病管理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22" y="4065834"/>
            <a:ext cx="845594" cy="379783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277" y="4013848"/>
            <a:ext cx="1029993" cy="351269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90" y="5609770"/>
            <a:ext cx="1051774" cy="362278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939" y="5596506"/>
            <a:ext cx="1042422" cy="371797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717" y="761510"/>
            <a:ext cx="1008775" cy="402048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910" y="2277214"/>
            <a:ext cx="495641" cy="481334"/>
          </a:xfrm>
          <a:prstGeom prst="rect">
            <a:avLst/>
          </a:pr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234" y="3946654"/>
            <a:ext cx="934375" cy="361473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03" y="5568503"/>
            <a:ext cx="1126946" cy="323330"/>
          </a:xfrm>
          <a:prstGeom prst="rect">
            <a:avLst/>
          </a:prstGeom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232" y="873824"/>
            <a:ext cx="1115018" cy="349969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822" y="852078"/>
            <a:ext cx="1143577" cy="331363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114" y="2476009"/>
            <a:ext cx="1309986" cy="263977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29" y="2466873"/>
            <a:ext cx="1122205" cy="325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323936" y="1570383"/>
            <a:ext cx="3419062" cy="73549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43206" y="1679713"/>
            <a:ext cx="3180522" cy="5367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DC3E6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7259332" y="1510748"/>
            <a:ext cx="308113" cy="30811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184943" y="1717237"/>
            <a:ext cx="17235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cap="none" spc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</a:t>
            </a:r>
            <a:endParaRPr lang="zh-CN" altLang="en-US" sz="2400" b="1" cap="none" spc="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79132" y="959632"/>
            <a:ext cx="44935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cap="none" spc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互联网医院和在线诊疗痛点分析</a:t>
            </a:r>
            <a:endParaRPr lang="zh-CN" altLang="en-US" sz="2400" b="1" cap="none" spc="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23936" y="2802837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响</a:t>
            </a:r>
            <a:r>
              <a:rPr lang="zh-CN" altLang="en-US" sz="200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应</a:t>
            </a:r>
            <a:r>
              <a:rPr lang="zh-CN" altLang="en-US" sz="2000" b="1" smtClean="0">
                <a:ln w="0"/>
                <a:solidFill>
                  <a:schemeClr val="accent1">
                    <a:lumMod val="75000"/>
                  </a:schemeClr>
                </a:solidFill>
              </a:rPr>
              <a:t>国家政策</a:t>
            </a:r>
            <a:r>
              <a:rPr lang="zh-CN" altLang="en-US" sz="200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而建立，依托线下医院，提供服务</a:t>
            </a:r>
            <a:r>
              <a:rPr lang="zh-CN" altLang="en-US" sz="2000" b="1" smtClean="0">
                <a:ln w="0"/>
                <a:solidFill>
                  <a:schemeClr val="accent1">
                    <a:lumMod val="75000"/>
                  </a:schemeClr>
                </a:solidFill>
              </a:rPr>
              <a:t>有限</a:t>
            </a:r>
            <a:endParaRPr lang="zh-CN" altLang="en-US" sz="2000" b="1" cap="none" spc="0">
              <a:ln w="0"/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136" y="2889527"/>
            <a:ext cx="621196" cy="62119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323936" y="3826566"/>
            <a:ext cx="35085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收入仅来自于</a:t>
            </a:r>
            <a:r>
              <a:rPr lang="zh-CN" altLang="zh-CN" sz="2000" b="1">
                <a:ln w="0"/>
                <a:solidFill>
                  <a:schemeClr val="accent1">
                    <a:lumMod val="75000"/>
                  </a:schemeClr>
                </a:solidFill>
              </a:rPr>
              <a:t>挂号费</a:t>
            </a:r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，收</a:t>
            </a:r>
            <a:r>
              <a:rPr lang="zh-CN" altLang="en-US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入</a:t>
            </a:r>
            <a:r>
              <a:rPr lang="zh-CN" altLang="zh-CN" sz="200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较低也导致其对公立医院而言</a:t>
            </a:r>
            <a:r>
              <a:rPr lang="zh-CN" altLang="zh-CN" sz="2000" b="1">
                <a:ln w="0"/>
                <a:solidFill>
                  <a:schemeClr val="accent1">
                    <a:lumMod val="75000"/>
                  </a:schemeClr>
                </a:solidFill>
              </a:rPr>
              <a:t>驱动力不足</a:t>
            </a:r>
            <a:endParaRPr lang="zh-CN" altLang="zh-CN" sz="2000" b="1">
              <a:ln w="0"/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77" y="4056276"/>
            <a:ext cx="573155" cy="57315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292460" y="5119228"/>
            <a:ext cx="3508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323936" y="5119228"/>
            <a:ext cx="3508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n w="0"/>
                <a:solidFill>
                  <a:schemeClr val="accent1">
                    <a:lumMod val="75000"/>
                  </a:schemeClr>
                </a:solidFill>
              </a:rPr>
              <a:t>优质医疗资源不足</a:t>
            </a:r>
            <a:r>
              <a:rPr lang="zh-CN" altLang="en-US" sz="200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，三甲医院的医生工作</a:t>
            </a:r>
            <a:r>
              <a:rPr lang="zh-CN" altLang="en-US" sz="2000" b="1" smtClean="0">
                <a:ln w="0"/>
                <a:solidFill>
                  <a:schemeClr val="accent1">
                    <a:lumMod val="75000"/>
                  </a:schemeClr>
                </a:solidFill>
              </a:rPr>
              <a:t>满负荷</a:t>
            </a:r>
            <a:r>
              <a:rPr lang="zh-CN" altLang="en-US" sz="200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，只能安排资质较浅的医生线上出诊</a:t>
            </a:r>
            <a:endParaRPr lang="zh-CN" altLang="en-US" sz="200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114" y="5231727"/>
            <a:ext cx="749036" cy="74903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327" y="1679713"/>
            <a:ext cx="444523" cy="44551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625497" y="1570383"/>
            <a:ext cx="3419062" cy="73549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44767" y="1679713"/>
            <a:ext cx="3180522" cy="536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27140" y="1717237"/>
            <a:ext cx="1415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在线诊疗</a:t>
            </a:r>
            <a:endParaRPr lang="zh-CN" altLang="en-US" sz="2400" b="1" cap="none" spc="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14949" y="2846182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smtClean="0">
                <a:ln w="0"/>
              </a:rPr>
              <a:t>平台</a:t>
            </a:r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医生资质认证</a:t>
            </a:r>
            <a:r>
              <a:rPr lang="zh-CN" altLang="en-US" sz="2000" smtClean="0">
                <a:ln w="0"/>
              </a:rPr>
              <a:t>还难以得到保障，因此难以建立</a:t>
            </a:r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医患信任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75" y="2800075"/>
            <a:ext cx="750404" cy="750404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744767" y="3826566"/>
            <a:ext cx="387664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smtClean="0">
                <a:ln w="0"/>
              </a:rPr>
              <a:t>缺乏</a:t>
            </a:r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面对面</a:t>
            </a:r>
            <a:r>
              <a:rPr lang="zh-CN" altLang="en-US" sz="2000" smtClean="0">
                <a:ln w="0"/>
              </a:rPr>
              <a:t>的诊疗和检查，可能会导致</a:t>
            </a:r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误诊和漏诊</a:t>
            </a:r>
            <a:r>
              <a:rPr lang="zh-CN" altLang="en-US" sz="2000" smtClean="0">
                <a:ln w="0"/>
              </a:rPr>
              <a:t>等问题，同时也存在患者</a:t>
            </a:r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隐私信息泄露</a:t>
            </a:r>
            <a:r>
              <a:rPr lang="zh-CN" altLang="en-US" sz="2000" smtClean="0">
                <a:ln w="0"/>
              </a:rPr>
              <a:t>的风险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3" y="3999612"/>
            <a:ext cx="673822" cy="673822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1744767" y="5119228"/>
            <a:ext cx="387664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b="1" smtClean="0">
                <a:ln w="0"/>
                <a:solidFill>
                  <a:schemeClr val="accent5">
                    <a:lumMod val="75000"/>
                  </a:schemeClr>
                </a:solidFill>
              </a:rPr>
              <a:t>支付制度不完善</a:t>
            </a:r>
            <a:r>
              <a:rPr lang="zh-CN" altLang="en-US" sz="2000" smtClean="0">
                <a:ln w="0"/>
              </a:rPr>
              <a:t>也成为在线诊疗平台扩大患者群体的阻力之一</a:t>
            </a:r>
            <a:endParaRPr lang="zh-CN" altLang="en-US" sz="2000" b="1" cap="none" spc="0">
              <a:ln w="0"/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47" y="5231727"/>
            <a:ext cx="559233" cy="559233"/>
          </a:xfrm>
          <a:prstGeom prst="rect">
            <a:avLst/>
          </a:prstGeom>
        </p:spPr>
      </p:pic>
      <p:sp>
        <p:nvSpPr>
          <p:cNvPr id="45" name="椭圆 44"/>
          <p:cNvSpPr/>
          <p:nvPr/>
        </p:nvSpPr>
        <p:spPr>
          <a:xfrm>
            <a:off x="1528626" y="1510021"/>
            <a:ext cx="308113" cy="30811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8116774" y="5160567"/>
            <a:ext cx="3104503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8112949" y="4619072"/>
            <a:ext cx="2551738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098999" y="4096739"/>
            <a:ext cx="2197940" cy="44444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789808" y="4400438"/>
            <a:ext cx="1053387" cy="92333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3951429" y="4524985"/>
            <a:ext cx="1512725" cy="9233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006206" y="4542330"/>
            <a:ext cx="1512725" cy="9233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84233" y="675861"/>
            <a:ext cx="5128593" cy="5466522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2426" y="675861"/>
            <a:ext cx="5151783" cy="5466522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19977" y="805070"/>
            <a:ext cx="4888396" cy="59634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490252" y="805069"/>
            <a:ext cx="4888395" cy="59634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4886" y="864705"/>
            <a:ext cx="487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solidFill>
                  <a:schemeClr val="bg1"/>
                </a:solidFill>
              </a:rPr>
              <a:t>中国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90253" y="864704"/>
            <a:ext cx="4893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美</a:t>
            </a:r>
            <a:r>
              <a:rPr lang="zh-CN" altLang="en-US" sz="2400" b="1" smtClean="0">
                <a:solidFill>
                  <a:schemeClr val="bg1"/>
                </a:solidFill>
              </a:rPr>
              <a:t>国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9977" y="1515212"/>
            <a:ext cx="4934780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99270" y="1547281"/>
            <a:ext cx="4929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mtClean="0"/>
              <a:t>在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</a:rPr>
              <a:t>20</a:t>
            </a:r>
            <a:r>
              <a:rPr lang="zh-CN" altLang="en-US" b="1" smtClean="0">
                <a:solidFill>
                  <a:schemeClr val="accent1">
                    <a:lumMod val="75000"/>
                  </a:schemeClr>
                </a:solidFill>
              </a:rPr>
              <a:t>世纪初</a:t>
            </a:r>
            <a:r>
              <a:rPr lang="zh-CN" altLang="en-US" smtClean="0"/>
              <a:t>，大型</a:t>
            </a:r>
            <a:r>
              <a:rPr lang="zh-CN" altLang="en-US"/>
              <a:t>机构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医疗信息化</a:t>
            </a:r>
            <a:r>
              <a:rPr lang="zh-CN" altLang="en-US" b="1" smtClean="0">
                <a:solidFill>
                  <a:schemeClr val="accent1">
                    <a:lumMod val="75000"/>
                  </a:schemeClr>
                </a:solidFill>
              </a:rPr>
              <a:t>建设</a:t>
            </a:r>
            <a:r>
              <a:rPr lang="zh-CN" altLang="en-US" smtClean="0"/>
              <a:t>进入起步发展阶段。 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mtClean="0"/>
              <a:t>在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</a:rPr>
              <a:t>2012</a:t>
            </a:r>
            <a:r>
              <a:rPr lang="zh-CN" altLang="en-US" b="1" smtClean="0">
                <a:solidFill>
                  <a:schemeClr val="accent1">
                    <a:lumMod val="75000"/>
                  </a:schemeClr>
                </a:solidFill>
              </a:rPr>
              <a:t>年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</a:rPr>
              <a:t>-2017</a:t>
            </a:r>
            <a:r>
              <a:rPr lang="zh-CN" altLang="en-US" smtClean="0"/>
              <a:t>年，</a:t>
            </a:r>
            <a:r>
              <a:rPr lang="zh-CN" altLang="en-US" b="1" smtClean="0">
                <a:solidFill>
                  <a:schemeClr val="accent1">
                    <a:lumMod val="75000"/>
                  </a:schemeClr>
                </a:solidFill>
              </a:rPr>
              <a:t>远程医疗</a:t>
            </a:r>
            <a:r>
              <a:rPr lang="zh-CN" altLang="en-US"/>
              <a:t>逐渐发展互联网医疗厂商规模化</a:t>
            </a:r>
            <a:r>
              <a:rPr lang="zh-CN" altLang="en-US" smtClean="0"/>
              <a:t>上线。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</a:rPr>
              <a:t>2018</a:t>
            </a:r>
            <a:r>
              <a:rPr lang="zh-CN" altLang="en-US" b="1" smtClean="0">
                <a:solidFill>
                  <a:schemeClr val="accent1">
                    <a:lumMod val="75000"/>
                  </a:schemeClr>
                </a:solidFill>
              </a:rPr>
              <a:t>年</a:t>
            </a:r>
            <a:r>
              <a:rPr lang="zh-CN" altLang="en-US" smtClean="0"/>
              <a:t>受疫情影响进入</a:t>
            </a:r>
            <a:r>
              <a:rPr lang="zh-CN" altLang="en-US"/>
              <a:t>高速发展阶段，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用户加速渗透</a:t>
            </a:r>
            <a:r>
              <a:rPr lang="zh-CN" altLang="en-US"/>
              <a:t>与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需求深度挖掘</a:t>
            </a:r>
            <a:r>
              <a:rPr lang="zh-CN" altLang="en-US"/>
              <a:t>两方面共同发力阶段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90252" y="1515213"/>
            <a:ext cx="4938090" cy="1754762"/>
          </a:xfrm>
          <a:prstGeom prst="rect">
            <a:avLst/>
          </a:prstGeom>
          <a:solidFill>
            <a:schemeClr val="accent5">
              <a:lumMod val="20000"/>
              <a:lumOff val="8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48010" y="1510794"/>
            <a:ext cx="50225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smtClean="0">
                <a:solidFill>
                  <a:schemeClr val="accent5">
                    <a:lumMod val="75000"/>
                  </a:schemeClr>
                </a:solidFill>
              </a:rPr>
              <a:t>2002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就拥有了首家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远程医疗</a:t>
            </a:r>
            <a:r>
              <a:rPr lang="zh-CN" altLang="en-US"/>
              <a:t>公司</a:t>
            </a:r>
            <a:r>
              <a:rPr lang="en-US" altLang="zh-CN" smtClean="0"/>
              <a:t>—</a:t>
            </a:r>
            <a:r>
              <a:rPr lang="en-US" altLang="zh-CN" err="1" smtClean="0"/>
              <a:t>Teledoc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在过去的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近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20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时间里行业稳步</a:t>
            </a:r>
            <a:r>
              <a:rPr lang="zh-CN" altLang="en-US" smtClean="0"/>
              <a:t>发展。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mtClean="0"/>
              <a:t>在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2018-2023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zh-CN" altLang="en-US"/>
              <a:t>中</a:t>
            </a:r>
            <a:r>
              <a:rPr lang="zh-CN" altLang="en-US" smtClean="0"/>
              <a:t>，持续</a:t>
            </a:r>
            <a:r>
              <a:rPr lang="zh-CN" altLang="en-US"/>
              <a:t>较好的盈利与收入态势</a:t>
            </a:r>
            <a:r>
              <a:rPr lang="zh-CN" altLang="en-US" smtClean="0"/>
              <a:t>，在</a:t>
            </a:r>
            <a:r>
              <a:rPr lang="zh-CN" altLang="en-US"/>
              <a:t>疫情爆发初始阶段达到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高峰期</a:t>
            </a:r>
            <a:r>
              <a:rPr lang="zh-CN" altLang="en-US"/>
              <a:t>，一些促进扩大互联网医疗使用的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监管变化</a:t>
            </a:r>
            <a:r>
              <a:rPr lang="zh-CN" altLang="en-US"/>
              <a:t>已成为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永久性</a:t>
            </a:r>
            <a:r>
              <a:rPr lang="zh-CN" altLang="en-US"/>
              <a:t>的</a:t>
            </a:r>
            <a:endParaRPr lang="en-US" altLang="zh-CN" smtClean="0"/>
          </a:p>
          <a:p>
            <a:endParaRPr lang="en-US" altLang="zh-CN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4885" y="3657600"/>
            <a:ext cx="4873487" cy="231648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94265" y="3593223"/>
            <a:ext cx="4888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互联网医疗企业一支独大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34993" y="3755017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在线</a:t>
            </a:r>
            <a:r>
              <a:rPr lang="zh-CN" altLang="en-US" sz="2000" b="1" smtClean="0">
                <a:solidFill>
                  <a:schemeClr val="accent1">
                    <a:lumMod val="75000"/>
                  </a:schemeClr>
                </a:solidFill>
              </a:rPr>
              <a:t>诊疗、互联网医院共同发展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35592" y="4632021"/>
            <a:ext cx="16035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公立医院运营的</a:t>
            </a:r>
            <a:r>
              <a:rPr lang="zh-CN" altLang="en-US" b="1">
                <a:solidFill>
                  <a:schemeClr val="bg1"/>
                </a:solidFill>
              </a:rPr>
              <a:t>互联网医院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6206" y="4542331"/>
            <a:ext cx="15817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互联网医疗企业运营</a:t>
            </a:r>
            <a:r>
              <a:rPr lang="zh-CN" altLang="en-US" smtClean="0">
                <a:solidFill>
                  <a:schemeClr val="bg1">
                    <a:lumMod val="95000"/>
                  </a:schemeClr>
                </a:solidFill>
              </a:rPr>
              <a:t>的</a:t>
            </a:r>
            <a:r>
              <a:rPr lang="zh-CN" altLang="en-US" b="1" smtClean="0">
                <a:solidFill>
                  <a:schemeClr val="bg1">
                    <a:lumMod val="95000"/>
                  </a:schemeClr>
                </a:solidFill>
              </a:rPr>
              <a:t>在线诊疗平台</a:t>
            </a:r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上弧形箭头 19"/>
          <p:cNvSpPr/>
          <p:nvPr/>
        </p:nvSpPr>
        <p:spPr>
          <a:xfrm>
            <a:off x="2698774" y="4542330"/>
            <a:ext cx="1145708" cy="36034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上弧形箭头 24"/>
          <p:cNvSpPr/>
          <p:nvPr/>
        </p:nvSpPr>
        <p:spPr>
          <a:xfrm rot="10800000">
            <a:off x="2648139" y="5046314"/>
            <a:ext cx="1145708" cy="36034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77529" y="4174975"/>
            <a:ext cx="161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提供技术支持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131492" y="5462002"/>
            <a:ext cx="23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提供优秀的医生资质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05160" y="3367024"/>
            <a:ext cx="4873487" cy="260705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50696" y="4106678"/>
            <a:ext cx="36125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互联网医疗企业</a:t>
            </a:r>
            <a:r>
              <a:rPr lang="zh-CN" altLang="en-US" smtClean="0"/>
              <a:t>平台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医</a:t>
            </a:r>
            <a:r>
              <a:rPr lang="zh-CN" altLang="en-US"/>
              <a:t>保公司互联网医疗</a:t>
            </a:r>
            <a:r>
              <a:rPr lang="zh-CN" altLang="en-US" smtClean="0"/>
              <a:t>平台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医院</a:t>
            </a:r>
            <a:r>
              <a:rPr lang="en-US" altLang="zh-CN"/>
              <a:t>/</a:t>
            </a:r>
            <a:r>
              <a:rPr lang="zh-CN" altLang="en-US"/>
              <a:t>医疗集团互联网医疗平台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6789808" y="4551124"/>
            <a:ext cx="11882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互联网医疗企业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左大括号 31"/>
          <p:cNvSpPr/>
          <p:nvPr/>
        </p:nvSpPr>
        <p:spPr>
          <a:xfrm>
            <a:off x="7978072" y="4215996"/>
            <a:ext cx="120927" cy="1361031"/>
          </a:xfrm>
          <a:prstGeom prst="leftBrac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1038150" y="2693503"/>
            <a:ext cx="315070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1.0 </a:t>
            </a:r>
            <a:r>
              <a:rPr lang="zh-CN" alt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起步阶段 </a:t>
            </a:r>
            <a:endParaRPr lang="en-US" altLang="zh-CN" sz="2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CN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(20</a:t>
            </a:r>
            <a:r>
              <a:rPr lang="zh-CN" alt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世纪末</a:t>
            </a:r>
            <a:r>
              <a:rPr lang="en-US" altLang="zh-CN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-2011</a:t>
            </a:r>
            <a:r>
              <a:rPr lang="zh-CN" alt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altLang="zh-CN" sz="2000" b="1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大型机构医疗信息化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建设起步</a:t>
            </a:r>
            <a:r>
              <a:rPr lang="zh-CN" altLang="en-US"/>
              <a:t>，为互联网医疗奠定技术</a:t>
            </a:r>
            <a:r>
              <a:rPr lang="zh-CN" altLang="en-US" smtClean="0"/>
              <a:t>基础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mtClean="0"/>
              <a:t>以传统的</a:t>
            </a:r>
            <a:r>
              <a:rPr lang="zh-CN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线下医院</a:t>
            </a:r>
            <a:r>
              <a:rPr lang="zh-CN" altLang="en-US" smtClean="0"/>
              <a:t>为主，预约挂号等行为都在线下进行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252334" y="5315778"/>
            <a:ext cx="3786811" cy="705678"/>
          </a:xfrm>
          <a:prstGeom prst="round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263894" y="3223591"/>
            <a:ext cx="3816621" cy="705678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63894" y="3198272"/>
            <a:ext cx="775252" cy="2777987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305264" y="1118981"/>
            <a:ext cx="3707296" cy="705678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305263" y="1131404"/>
            <a:ext cx="775252" cy="2777987"/>
          </a:xfrm>
          <a:prstGeom prst="roundRect">
            <a:avLst/>
          </a:prstGeom>
          <a:solidFill>
            <a:schemeClr val="accent1">
              <a:lumMod val="75000"/>
              <a:alpha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305509" y="5360972"/>
            <a:ext cx="661946" cy="615287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320544" y="5360973"/>
            <a:ext cx="661946" cy="615287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310602" y="3285697"/>
            <a:ext cx="661946" cy="615287"/>
          </a:xfrm>
          <a:prstGeom prst="ellipse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361916" y="3268786"/>
            <a:ext cx="661946" cy="615287"/>
          </a:xfrm>
          <a:prstGeom prst="ellipse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361916" y="1178602"/>
            <a:ext cx="661946" cy="615287"/>
          </a:xfrm>
          <a:prstGeom prst="ellips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306379" y="1176598"/>
            <a:ext cx="661946" cy="615287"/>
          </a:xfrm>
          <a:prstGeom prst="ellips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383283" y="5480118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chemeClr val="bg1"/>
                </a:solidFill>
              </a:rPr>
              <a:t>1.0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94839" y="5490056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chemeClr val="bg1"/>
                </a:solidFill>
              </a:rPr>
              <a:t>1.0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76198" y="3420243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en-US" altLang="zh-CN" b="1" smtClean="0">
                <a:solidFill>
                  <a:schemeClr val="bg1"/>
                </a:solidFill>
              </a:rPr>
              <a:t>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29751" y="3420243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en-US" altLang="zh-CN" b="1" smtClean="0">
                <a:solidFill>
                  <a:schemeClr val="bg1"/>
                </a:solidFill>
              </a:rPr>
              <a:t>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29751" y="1304681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3</a:t>
            </a:r>
            <a:r>
              <a:rPr lang="en-US" altLang="zh-CN" b="1" smtClean="0">
                <a:solidFill>
                  <a:schemeClr val="bg1"/>
                </a:solidFill>
              </a:rPr>
              <a:t>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74215" y="1299576"/>
            <a:ext cx="52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chemeClr val="bg1"/>
                </a:solidFill>
              </a:rPr>
              <a:t>3.0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542178" y="5490055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起步阶段</a:t>
            </a:r>
            <a:endParaRPr lang="zh-CN" altLang="en-US" sz="2000" b="1"/>
          </a:p>
        </p:txBody>
      </p:sp>
      <p:sp>
        <p:nvSpPr>
          <p:cNvPr id="25" name="文本框 24"/>
          <p:cNvSpPr txBox="1"/>
          <p:nvPr/>
        </p:nvSpPr>
        <p:spPr>
          <a:xfrm>
            <a:off x="5513505" y="3389465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发展阶段</a:t>
            </a:r>
            <a:endParaRPr lang="zh-CN" altLang="en-US" sz="2000" b="1"/>
          </a:p>
        </p:txBody>
      </p:sp>
      <p:sp>
        <p:nvSpPr>
          <p:cNvPr id="26" name="文本框 25"/>
          <p:cNvSpPr txBox="1"/>
          <p:nvPr/>
        </p:nvSpPr>
        <p:spPr>
          <a:xfrm>
            <a:off x="8497959" y="1253209"/>
            <a:ext cx="2097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/>
              <a:t>高速发展阶段</a:t>
            </a:r>
            <a:endParaRPr lang="zh-CN" altLang="en-US" sz="2000" b="1"/>
          </a:p>
        </p:txBody>
      </p:sp>
      <p:sp>
        <p:nvSpPr>
          <p:cNvPr id="30" name="文本框 29"/>
          <p:cNvSpPr txBox="1"/>
          <p:nvPr/>
        </p:nvSpPr>
        <p:spPr>
          <a:xfrm>
            <a:off x="8217428" y="2031089"/>
            <a:ext cx="315070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accent5">
                    <a:lumMod val="75000"/>
                  </a:schemeClr>
                </a:solidFill>
              </a:rPr>
              <a:t>3.0 </a:t>
            </a:r>
            <a:r>
              <a:rPr lang="zh-CN" altLang="en-US" sz="2000" b="1" smtClean="0">
                <a:solidFill>
                  <a:schemeClr val="accent5">
                    <a:lumMod val="75000"/>
                  </a:schemeClr>
                </a:solidFill>
              </a:rPr>
              <a:t>高速发展阶段 </a:t>
            </a:r>
            <a:endParaRPr lang="en-US" altLang="zh-CN" sz="2000" b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altLang="zh-CN" sz="2000" b="1" smtClean="0">
                <a:solidFill>
                  <a:schemeClr val="accent5">
                    <a:lumMod val="75000"/>
                  </a:schemeClr>
                </a:solidFill>
              </a:rPr>
              <a:t>(2018</a:t>
            </a:r>
            <a:r>
              <a:rPr lang="zh-CN" altLang="en-US" sz="2000" b="1" smtClean="0">
                <a:solidFill>
                  <a:schemeClr val="accent5">
                    <a:lumMod val="75000"/>
                  </a:schemeClr>
                </a:solidFill>
              </a:rPr>
              <a:t>年</a:t>
            </a:r>
            <a:r>
              <a:rPr lang="en-US" altLang="zh-CN" sz="2000" b="1" smtClean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zh-CN" altLang="en-US" sz="2000" b="1" smtClean="0">
                <a:solidFill>
                  <a:schemeClr val="accent5">
                    <a:lumMod val="75000"/>
                  </a:schemeClr>
                </a:solidFill>
              </a:rPr>
              <a:t>至今</a:t>
            </a:r>
            <a:r>
              <a:rPr lang="en-US" altLang="zh-CN" sz="2000" b="1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lang="en-US" altLang="zh-CN" sz="2000" b="1" smtClean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随着互联网发展，各大医院推广</a:t>
            </a:r>
            <a:r>
              <a:rPr lang="zh-CN" altLang="en-US" smtClean="0"/>
              <a:t>官方</a:t>
            </a:r>
            <a:r>
              <a:rPr lang="en-US" altLang="zh-CN"/>
              <a:t>APP</a:t>
            </a:r>
            <a:r>
              <a:rPr lang="zh-CN" altLang="en-US"/>
              <a:t>，建立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互联网</a:t>
            </a:r>
            <a:r>
              <a:rPr lang="zh-CN" altLang="en-US" b="1" smtClean="0">
                <a:solidFill>
                  <a:schemeClr val="accent5">
                    <a:lumMod val="75000"/>
                  </a:schemeClr>
                </a:solidFill>
              </a:rPr>
              <a:t>医院</a:t>
            </a:r>
            <a:endParaRPr lang="en-US" altLang="zh-CN" b="1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“</a:t>
            </a:r>
            <a:r>
              <a:rPr lang="zh-CN" altLang="en-US" b="1">
                <a:solidFill>
                  <a:schemeClr val="accent5">
                    <a:lumMod val="75000"/>
                  </a:schemeClr>
                </a:solidFill>
              </a:rPr>
              <a:t>线上线下一体化</a:t>
            </a:r>
            <a:r>
              <a:rPr lang="zh-CN" altLang="en-US"/>
              <a:t>”的医疗服务</a:t>
            </a:r>
            <a:r>
              <a:rPr lang="zh-CN" altLang="en-US" smtClean="0"/>
              <a:t>模式</a:t>
            </a:r>
            <a:r>
              <a:rPr lang="zh-CN" altLang="en-US"/>
              <a:t>逐步成熟；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126693" y="3989349"/>
            <a:ext cx="315070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zh-CN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.0 </a:t>
            </a:r>
            <a:r>
              <a:rPr lang="zh-CN" altLang="en-U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发展</a:t>
            </a:r>
            <a:r>
              <a:rPr lang="zh-CN" altLang="en-US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阶段 </a:t>
            </a:r>
            <a:endParaRPr lang="en-US" altLang="zh-CN" sz="20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zh-CN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(2012</a:t>
            </a:r>
            <a:r>
              <a:rPr lang="zh-CN" altLang="en-U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-2017</a:t>
            </a:r>
            <a:r>
              <a:rPr lang="zh-CN" altLang="en-US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年</a:t>
            </a:r>
            <a:r>
              <a:rPr lang="en-US" altLang="zh-CN" sz="2000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  <a:endParaRPr lang="en-US" altLang="zh-CN" sz="2000" b="1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互联网医疗</a:t>
            </a:r>
            <a:r>
              <a:rPr lang="zh-CN" alt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厂商规模化</a:t>
            </a:r>
            <a:r>
              <a:rPr lang="zh-CN" altLang="en-US"/>
              <a:t>上线，服务内容趋向多样化，巨头纷纷入局，开始探索创新商业模式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远程医疗</a:t>
            </a:r>
            <a:r>
              <a:rPr lang="zh-CN" altLang="en-US" smtClean="0"/>
              <a:t>快速发展，</a:t>
            </a:r>
            <a:r>
              <a:rPr lang="zh-CN" altLang="en-US" b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在线诊疗</a:t>
            </a:r>
            <a:r>
              <a:rPr lang="zh-CN" altLang="en-US" smtClean="0"/>
              <a:t>模式发展逐渐成熟</a:t>
            </a:r>
            <a:endParaRPr lang="en-US" altLang="zh-CN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5297161" y="1225010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824924" y="74289"/>
            <a:ext cx="4089858" cy="403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056153" y="79871"/>
            <a:ext cx="371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研究背景、研究问题及研究思路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546865" y="6440492"/>
            <a:ext cx="2792894" cy="3562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53403" y="6433964"/>
            <a:ext cx="290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建议提出及未来展望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724493" y="165366"/>
            <a:ext cx="1149626" cy="939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966347" y="285253"/>
            <a:ext cx="904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调研</a:t>
            </a:r>
            <a:endParaRPr lang="en-US" altLang="zh-CN" smtClean="0"/>
          </a:p>
          <a:p>
            <a:r>
              <a:rPr lang="zh-CN" altLang="en-US" smtClean="0"/>
              <a:t>准备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724493" y="3137545"/>
            <a:ext cx="1149626" cy="9393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762445" y="3291252"/>
            <a:ext cx="121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数据分析调研分析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724493" y="5846766"/>
            <a:ext cx="1149626" cy="9393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966347" y="5969439"/>
            <a:ext cx="904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结论</a:t>
            </a:r>
            <a:endParaRPr lang="en-US" altLang="zh-CN" smtClean="0"/>
          </a:p>
          <a:p>
            <a:r>
              <a:rPr lang="zh-CN" altLang="en-US"/>
              <a:t>建议</a:t>
            </a:r>
            <a:endParaRPr lang="en-US" altLang="zh-CN" smtClean="0"/>
          </a:p>
        </p:txBody>
      </p:sp>
      <p:cxnSp>
        <p:nvCxnSpPr>
          <p:cNvPr id="39" name="直接箭头连接符 38"/>
          <p:cNvCxnSpPr>
            <a:stCxn id="33" idx="2"/>
            <a:endCxn id="35" idx="0"/>
          </p:cNvCxnSpPr>
          <p:nvPr/>
        </p:nvCxnSpPr>
        <p:spPr>
          <a:xfrm>
            <a:off x="2299306" y="1104759"/>
            <a:ext cx="0" cy="203278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dash"/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5" idx="2"/>
            <a:endCxn id="37" idx="0"/>
          </p:cNvCxnSpPr>
          <p:nvPr/>
        </p:nvCxnSpPr>
        <p:spPr>
          <a:xfrm>
            <a:off x="2299306" y="4076938"/>
            <a:ext cx="0" cy="176982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468301" y="658118"/>
            <a:ext cx="2803623" cy="370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647949" y="643035"/>
            <a:ext cx="260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在线诊疗平台数据爬取</a:t>
            </a:r>
            <a:endParaRPr lang="zh-CN" altLang="en-US"/>
          </a:p>
        </p:txBody>
      </p:sp>
      <p:cxnSp>
        <p:nvCxnSpPr>
          <p:cNvPr id="25" name="直接箭头连接符 24"/>
          <p:cNvCxnSpPr>
            <a:stCxn id="27" idx="2"/>
            <a:endCxn id="50" idx="0"/>
          </p:cNvCxnSpPr>
          <p:nvPr/>
        </p:nvCxnSpPr>
        <p:spPr>
          <a:xfrm>
            <a:off x="6869853" y="477518"/>
            <a:ext cx="260" cy="18060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/>
          <p:nvPr/>
        </p:nvSpPr>
        <p:spPr>
          <a:xfrm>
            <a:off x="3877742" y="4072464"/>
            <a:ext cx="2569477" cy="340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805412" y="4042331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互联网医疗平台医生访谈</a:t>
            </a:r>
            <a:endParaRPr lang="zh-CN" altLang="en-US"/>
          </a:p>
        </p:txBody>
      </p:sp>
      <p:cxnSp>
        <p:nvCxnSpPr>
          <p:cNvPr id="162" name="直接箭头连接符 161"/>
          <p:cNvCxnSpPr>
            <a:endCxn id="155" idx="0"/>
          </p:cNvCxnSpPr>
          <p:nvPr/>
        </p:nvCxnSpPr>
        <p:spPr>
          <a:xfrm>
            <a:off x="5732369" y="1013175"/>
            <a:ext cx="1585" cy="2118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4608946" y="4974543"/>
            <a:ext cx="1123424" cy="6249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7" name="直接箭头连接符 176"/>
          <p:cNvCxnSpPr>
            <a:stCxn id="141" idx="2"/>
            <a:endCxn id="176" idx="0"/>
          </p:cNvCxnSpPr>
          <p:nvPr/>
        </p:nvCxnSpPr>
        <p:spPr>
          <a:xfrm>
            <a:off x="5162481" y="4412829"/>
            <a:ext cx="8177" cy="56171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4714717" y="4967269"/>
            <a:ext cx="1038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医生参与意愿</a:t>
            </a:r>
            <a:endParaRPr lang="zh-CN" altLang="en-US"/>
          </a:p>
        </p:txBody>
      </p:sp>
      <p:cxnSp>
        <p:nvCxnSpPr>
          <p:cNvPr id="244" name="直接连接符 243"/>
          <p:cNvCxnSpPr/>
          <p:nvPr/>
        </p:nvCxnSpPr>
        <p:spPr>
          <a:xfrm>
            <a:off x="5180447" y="6212253"/>
            <a:ext cx="4055949" cy="2888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5170658" y="5599445"/>
            <a:ext cx="9789" cy="622044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flipV="1">
            <a:off x="7770650" y="6029938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 flipV="1">
            <a:off x="9217924" y="6033233"/>
            <a:ext cx="0" cy="196405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/>
          <p:nvPr/>
        </p:nvCxnSpPr>
        <p:spPr>
          <a:xfrm flipH="1">
            <a:off x="6854626" y="6212253"/>
            <a:ext cx="3847" cy="24126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6436305" y="1230114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7533300" y="1225011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箭头连接符 155"/>
          <p:cNvCxnSpPr>
            <a:stCxn id="50" idx="2"/>
            <a:endCxn id="109" idx="0"/>
          </p:cNvCxnSpPr>
          <p:nvPr/>
        </p:nvCxnSpPr>
        <p:spPr>
          <a:xfrm>
            <a:off x="6870113" y="1028506"/>
            <a:ext cx="2985" cy="20160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>
            <a:endCxn id="110" idx="0"/>
          </p:cNvCxnSpPr>
          <p:nvPr/>
        </p:nvCxnSpPr>
        <p:spPr>
          <a:xfrm>
            <a:off x="7970093" y="1013175"/>
            <a:ext cx="0" cy="2118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5297161" y="2023757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6438102" y="2018850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/>
          <p:cNvSpPr/>
          <p:nvPr/>
        </p:nvSpPr>
        <p:spPr>
          <a:xfrm>
            <a:off x="7544410" y="2031499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直接箭头连接符 215"/>
          <p:cNvCxnSpPr>
            <a:stCxn id="109" idx="2"/>
            <a:endCxn id="118" idx="0"/>
          </p:cNvCxnSpPr>
          <p:nvPr/>
        </p:nvCxnSpPr>
        <p:spPr>
          <a:xfrm>
            <a:off x="6873098" y="1823642"/>
            <a:ext cx="1797" cy="27833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155" idx="2"/>
            <a:endCxn id="117" idx="0"/>
          </p:cNvCxnSpPr>
          <p:nvPr/>
        </p:nvCxnSpPr>
        <p:spPr>
          <a:xfrm>
            <a:off x="5733954" y="1818538"/>
            <a:ext cx="0" cy="28834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>
            <a:stCxn id="110" idx="2"/>
            <a:endCxn id="119" idx="0"/>
          </p:cNvCxnSpPr>
          <p:nvPr/>
        </p:nvCxnSpPr>
        <p:spPr>
          <a:xfrm>
            <a:off x="7970093" y="1818539"/>
            <a:ext cx="11110" cy="29608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>
          <a:xfrm>
            <a:off x="5416936" y="1203581"/>
            <a:ext cx="763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聚类算法</a:t>
            </a:r>
            <a:endParaRPr lang="zh-CN" altLang="en-US"/>
          </a:p>
        </p:txBody>
      </p:sp>
      <p:sp>
        <p:nvSpPr>
          <p:cNvPr id="153" name="文本框 152"/>
          <p:cNvSpPr txBox="1"/>
          <p:nvPr/>
        </p:nvSpPr>
        <p:spPr>
          <a:xfrm>
            <a:off x="7550411" y="1195490"/>
            <a:ext cx="96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语义网络分析</a:t>
            </a:r>
            <a:endParaRPr lang="zh-CN" altLang="en-US"/>
          </a:p>
        </p:txBody>
      </p:sp>
      <p:sp>
        <p:nvSpPr>
          <p:cNvPr id="212" name="文本框 211"/>
          <p:cNvSpPr txBox="1"/>
          <p:nvPr/>
        </p:nvSpPr>
        <p:spPr>
          <a:xfrm>
            <a:off x="5294775" y="1985642"/>
            <a:ext cx="104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医生分类画像</a:t>
            </a:r>
            <a:endParaRPr lang="zh-CN" altLang="en-US"/>
          </a:p>
        </p:txBody>
      </p:sp>
      <p:sp>
        <p:nvSpPr>
          <p:cNvPr id="209" name="文本框 208"/>
          <p:cNvSpPr txBox="1"/>
          <p:nvPr/>
        </p:nvSpPr>
        <p:spPr>
          <a:xfrm>
            <a:off x="6552470" y="1994697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平台概况</a:t>
            </a:r>
            <a:endParaRPr lang="zh-CN" altLang="en-US"/>
          </a:p>
        </p:txBody>
      </p:sp>
      <p:sp>
        <p:nvSpPr>
          <p:cNvPr id="149" name="文本框 148"/>
          <p:cNvSpPr txBox="1"/>
          <p:nvPr/>
        </p:nvSpPr>
        <p:spPr>
          <a:xfrm>
            <a:off x="6404088" y="1202080"/>
            <a:ext cx="95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mtClean="0"/>
              <a:t>描述性统计</a:t>
            </a:r>
            <a:endParaRPr lang="zh-CN" altLang="en-US"/>
          </a:p>
        </p:txBody>
      </p:sp>
      <p:sp>
        <p:nvSpPr>
          <p:cNvPr id="125" name="文本框 124"/>
          <p:cNvSpPr txBox="1"/>
          <p:nvPr/>
        </p:nvSpPr>
        <p:spPr>
          <a:xfrm>
            <a:off x="7664597" y="2045088"/>
            <a:ext cx="104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用户</a:t>
            </a:r>
            <a:endParaRPr lang="en-US" altLang="zh-CN" smtClean="0"/>
          </a:p>
          <a:p>
            <a:r>
              <a:rPr lang="zh-CN" altLang="en-US" smtClean="0"/>
              <a:t>评价</a:t>
            </a:r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4925715" y="3524775"/>
            <a:ext cx="1519108" cy="3607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7298446" y="3547403"/>
            <a:ext cx="1519108" cy="3596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7234722" y="4094751"/>
            <a:ext cx="2569477" cy="340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直接箭头连接符 137"/>
          <p:cNvCxnSpPr>
            <a:stCxn id="127" idx="2"/>
            <a:endCxn id="130" idx="0"/>
          </p:cNvCxnSpPr>
          <p:nvPr/>
        </p:nvCxnSpPr>
        <p:spPr>
          <a:xfrm>
            <a:off x="8058000" y="3907049"/>
            <a:ext cx="461461" cy="18770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26" idx="2"/>
            <a:endCxn id="141" idx="0"/>
          </p:cNvCxnSpPr>
          <p:nvPr/>
        </p:nvCxnSpPr>
        <p:spPr>
          <a:xfrm flipH="1">
            <a:off x="5162481" y="3885523"/>
            <a:ext cx="522788" cy="18694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7287108" y="4068775"/>
            <a:ext cx="25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在线诊疗平台民意调查</a:t>
            </a:r>
            <a:endParaRPr lang="zh-CN" altLang="en-US"/>
          </a:p>
        </p:txBody>
      </p:sp>
      <p:sp>
        <p:nvSpPr>
          <p:cNvPr id="135" name="文本框 134"/>
          <p:cNvSpPr txBox="1"/>
          <p:nvPr/>
        </p:nvSpPr>
        <p:spPr>
          <a:xfrm>
            <a:off x="5241506" y="3506195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供给端</a:t>
            </a:r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7614237" y="3524408"/>
            <a:ext cx="281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需求端</a:t>
            </a:r>
            <a:endParaRPr lang="zh-CN" altLang="en-US"/>
          </a:p>
        </p:txBody>
      </p:sp>
      <p:sp>
        <p:nvSpPr>
          <p:cNvPr id="146" name="矩形 145"/>
          <p:cNvSpPr/>
          <p:nvPr/>
        </p:nvSpPr>
        <p:spPr>
          <a:xfrm>
            <a:off x="7333857" y="4661269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8782249" y="4670505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7333857" y="5445646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/>
          <p:cNvSpPr/>
          <p:nvPr/>
        </p:nvSpPr>
        <p:spPr>
          <a:xfrm>
            <a:off x="8781131" y="5448941"/>
            <a:ext cx="873586" cy="59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箭头连接符 179"/>
          <p:cNvCxnSpPr>
            <a:stCxn id="147" idx="2"/>
            <a:endCxn id="157" idx="0"/>
          </p:cNvCxnSpPr>
          <p:nvPr/>
        </p:nvCxnSpPr>
        <p:spPr>
          <a:xfrm flipH="1">
            <a:off x="9217924" y="5264033"/>
            <a:ext cx="1118" cy="18490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stCxn id="146" idx="2"/>
            <a:endCxn id="148" idx="0"/>
          </p:cNvCxnSpPr>
          <p:nvPr/>
        </p:nvCxnSpPr>
        <p:spPr>
          <a:xfrm>
            <a:off x="7770650" y="5254797"/>
            <a:ext cx="0" cy="19084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/>
        </p:nvSpPr>
        <p:spPr>
          <a:xfrm>
            <a:off x="7280538" y="4644104"/>
            <a:ext cx="101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mtClean="0"/>
              <a:t>描述性统计</a:t>
            </a:r>
            <a:endParaRPr lang="zh-CN" altLang="en-US"/>
          </a:p>
        </p:txBody>
      </p:sp>
      <p:cxnSp>
        <p:nvCxnSpPr>
          <p:cNvPr id="158" name="直接箭头连接符 157"/>
          <p:cNvCxnSpPr>
            <a:endCxn id="146" idx="0"/>
          </p:cNvCxnSpPr>
          <p:nvPr/>
        </p:nvCxnSpPr>
        <p:spPr>
          <a:xfrm>
            <a:off x="7770650" y="4435116"/>
            <a:ext cx="0" cy="22615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>
            <a:endCxn id="147" idx="0"/>
          </p:cNvCxnSpPr>
          <p:nvPr/>
        </p:nvCxnSpPr>
        <p:spPr>
          <a:xfrm>
            <a:off x="9219041" y="4461092"/>
            <a:ext cx="1" cy="20941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8787006" y="4634868"/>
            <a:ext cx="1056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结构方程模型</a:t>
            </a:r>
            <a:endParaRPr lang="zh-CN" altLang="en-US"/>
          </a:p>
        </p:txBody>
      </p:sp>
      <p:sp>
        <p:nvSpPr>
          <p:cNvPr id="230" name="文本框 229"/>
          <p:cNvSpPr txBox="1"/>
          <p:nvPr/>
        </p:nvSpPr>
        <p:spPr>
          <a:xfrm>
            <a:off x="7441732" y="5430236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用户画像</a:t>
            </a:r>
            <a:endParaRPr lang="zh-CN" altLang="en-US"/>
          </a:p>
        </p:txBody>
      </p:sp>
      <p:sp>
        <p:nvSpPr>
          <p:cNvPr id="241" name="文本框 240"/>
          <p:cNvSpPr txBox="1"/>
          <p:nvPr/>
        </p:nvSpPr>
        <p:spPr>
          <a:xfrm>
            <a:off x="8895446" y="5417906"/>
            <a:ext cx="781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使用意愿</a:t>
            </a:r>
            <a:endParaRPr lang="zh-CN" altLang="en-US"/>
          </a:p>
        </p:txBody>
      </p:sp>
      <p:cxnSp>
        <p:nvCxnSpPr>
          <p:cNvPr id="70" name="直接连接符 69"/>
          <p:cNvCxnSpPr/>
          <p:nvPr/>
        </p:nvCxnSpPr>
        <p:spPr>
          <a:xfrm>
            <a:off x="5732369" y="2743917"/>
            <a:ext cx="2248834" cy="641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6869853" y="2611131"/>
            <a:ext cx="0" cy="36026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738394" y="2606518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7981203" y="2617531"/>
            <a:ext cx="0" cy="188203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5505621" y="2906739"/>
            <a:ext cx="2803623" cy="370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5892236" y="2901328"/>
            <a:ext cx="260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在线诊疗平台现状</a:t>
            </a:r>
            <a:endParaRPr lang="zh-CN" altLang="en-US"/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970093" y="3291252"/>
            <a:ext cx="0" cy="27846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5818346" y="3291252"/>
            <a:ext cx="0" cy="27846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5123815" y="539866"/>
            <a:ext cx="6431280" cy="1515745"/>
            <a:chOff x="7634" y="1368"/>
            <a:chExt cx="10128" cy="2387"/>
          </a:xfrm>
        </p:grpSpPr>
        <p:grpSp>
          <p:nvGrpSpPr>
            <p:cNvPr id="22" name="组合 21"/>
            <p:cNvGrpSpPr/>
            <p:nvPr/>
          </p:nvGrpSpPr>
          <p:grpSpPr>
            <a:xfrm>
              <a:off x="7634" y="1368"/>
              <a:ext cx="5431" cy="2387"/>
              <a:chOff x="7634" y="1368"/>
              <a:chExt cx="5431" cy="2387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0034" y="1755"/>
                <a:ext cx="303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smtClean="0">
                    <a:solidFill>
                      <a:schemeClr val="accent5">
                        <a:lumMod val="75000"/>
                      </a:schemeClr>
                    </a:solidFill>
                  </a:rPr>
                  <a:t>顶流医生</a:t>
                </a:r>
                <a:r>
                  <a:rPr lang="zh-CN" altLang="en-US" b="1" smtClean="0">
                    <a:solidFill>
                      <a:schemeClr val="accent5">
                        <a:lumMod val="75000"/>
                      </a:schemeClr>
                    </a:solidFill>
                  </a:rPr>
                  <a:t>（</a:t>
                </a:r>
                <a:r>
                  <a:rPr lang="en-US" altLang="zh-CN" b="1" smtClean="0">
                    <a:solidFill>
                      <a:schemeClr val="accent5">
                        <a:lumMod val="75000"/>
                      </a:schemeClr>
                    </a:solidFill>
                  </a:rPr>
                  <a:t>1%</a:t>
                </a:r>
                <a:r>
                  <a:rPr lang="zh-CN" altLang="en-US" b="1" smtClean="0">
                    <a:solidFill>
                      <a:schemeClr val="accent5">
                        <a:lumMod val="75000"/>
                      </a:schemeClr>
                    </a:solidFill>
                  </a:rPr>
                  <a:t>）</a:t>
                </a:r>
                <a:endParaRPr lang="zh-CN" altLang="en-US" b="1" smtClean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7" name="图片 16"/>
              <p:cNvPicPr/>
              <p:nvPr>
                <p:custDataLst>
                  <p:tags r:id="rId1"/>
                </p:custDataLst>
              </p:nvPr>
            </p:nvPicPr>
            <p:blipFill>
              <a:blip r:embed="rId2"/>
              <a:srcRect l="16923" t="58718" r="54483" b="9168"/>
              <a:stretch>
                <a:fillRect/>
              </a:stretch>
            </p:blipFill>
            <p:spPr>
              <a:xfrm>
                <a:off x="7634" y="1368"/>
                <a:ext cx="2325" cy="238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3" name="文本框 22"/>
            <p:cNvSpPr txBox="1"/>
            <p:nvPr/>
          </p:nvSpPr>
          <p:spPr>
            <a:xfrm>
              <a:off x="10103" y="2383"/>
              <a:ext cx="765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总访问量最高、开通年数最久</a:t>
              </a:r>
              <a:endParaRPr lang="zh-CN" altLang="en-US" sz="1600"/>
            </a:p>
            <a:p>
              <a:r>
                <a:rPr lang="zh-CN" altLang="en-US" sz="1600"/>
                <a:t>更高的职称级别、更高的病友推荐度、更高的活跃度</a:t>
              </a:r>
              <a:endParaRPr lang="zh-CN" altLang="en-US" sz="16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149329" y="1997710"/>
            <a:ext cx="6509385" cy="1515745"/>
            <a:chOff x="7634" y="3551"/>
            <a:chExt cx="10251" cy="2387"/>
          </a:xfrm>
        </p:grpSpPr>
        <p:pic>
          <p:nvPicPr>
            <p:cNvPr id="103" name="图片 102"/>
            <p:cNvPicPr/>
            <p:nvPr>
              <p:custDataLst>
                <p:tags r:id="rId3"/>
              </p:custDataLst>
            </p:nvPr>
          </p:nvPicPr>
          <p:blipFill>
            <a:blip r:embed="rId2"/>
            <a:srcRect l="54607" t="58718" r="15887" b="9168"/>
            <a:stretch>
              <a:fillRect/>
            </a:stretch>
          </p:blipFill>
          <p:spPr>
            <a:xfrm>
              <a:off x="7634" y="3551"/>
              <a:ext cx="2400" cy="23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" name="文本框 18"/>
            <p:cNvSpPr txBox="1"/>
            <p:nvPr/>
          </p:nvSpPr>
          <p:spPr>
            <a:xfrm>
              <a:off x="10237" y="3898"/>
              <a:ext cx="36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mtClean="0">
                  <a:solidFill>
                    <a:schemeClr val="accent5">
                      <a:lumMod val="75000"/>
                    </a:schemeClr>
                  </a:solidFill>
                </a:rPr>
                <a:t>优质医生</a:t>
              </a:r>
              <a:r>
                <a:rPr lang="zh-CN" altLang="en-US" b="1" smtClean="0">
                  <a:solidFill>
                    <a:schemeClr val="accent5">
                      <a:lumMod val="75000"/>
                    </a:schemeClr>
                  </a:solidFill>
                </a:rPr>
                <a:t>（约三成）</a:t>
              </a:r>
              <a:endParaRPr lang="zh-CN" altLang="en-US" b="1" smtClean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08" y="4491"/>
              <a:ext cx="767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>
                  <a:sym typeface="+mn-ea"/>
                </a:rPr>
                <a:t>总访问量、</a:t>
              </a:r>
              <a:r>
                <a:rPr lang="zh-CN" altLang="en-US" sz="1600"/>
                <a:t>开通年数有所下降</a:t>
              </a:r>
              <a:endParaRPr lang="zh-CN" altLang="en-US" sz="1600"/>
            </a:p>
            <a:p>
              <a:r>
                <a:rPr lang="zh-CN" altLang="en-US" sz="1600"/>
                <a:t>但职称级别、病友推荐度、活跃度仍维持在较高水平</a:t>
              </a:r>
              <a:endParaRPr lang="zh-CN" altLang="en-US" sz="16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158162" y="3541395"/>
            <a:ext cx="6647180" cy="1514475"/>
            <a:chOff x="7779" y="5938"/>
            <a:chExt cx="10468" cy="2385"/>
          </a:xfrm>
        </p:grpSpPr>
        <p:pic>
          <p:nvPicPr>
            <p:cNvPr id="104" name="图片 103"/>
            <p:cNvPicPr/>
            <p:nvPr>
              <p:custDataLst>
                <p:tags r:id="rId4"/>
              </p:custDataLst>
            </p:nvPr>
          </p:nvPicPr>
          <p:blipFill>
            <a:blip r:embed="rId5"/>
            <a:srcRect l="17955" t="9667" r="55282" b="60949"/>
            <a:stretch>
              <a:fillRect/>
            </a:stretch>
          </p:blipFill>
          <p:spPr>
            <a:xfrm>
              <a:off x="7779" y="5938"/>
              <a:ext cx="2300" cy="2385"/>
            </a:xfrm>
            <a:prstGeom prst="ellipse">
              <a:avLst/>
            </a:prstGeom>
            <a:noFill/>
            <a:ln w="9525">
              <a:noFill/>
            </a:ln>
          </p:spPr>
        </p:pic>
        <p:sp>
          <p:nvSpPr>
            <p:cNvPr id="20" name="文本框 19"/>
            <p:cNvSpPr txBox="1"/>
            <p:nvPr/>
          </p:nvSpPr>
          <p:spPr>
            <a:xfrm>
              <a:off x="10275" y="6298"/>
              <a:ext cx="33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mtClean="0">
                  <a:solidFill>
                    <a:schemeClr val="accent5">
                      <a:lumMod val="75000"/>
                    </a:schemeClr>
                  </a:solidFill>
                </a:rPr>
                <a:t>普通医生</a:t>
              </a:r>
              <a:r>
                <a:rPr lang="zh-CN" altLang="en-US" b="1" smtClean="0">
                  <a:solidFill>
                    <a:schemeClr val="accent5">
                      <a:lumMod val="75000"/>
                    </a:schemeClr>
                  </a:solidFill>
                </a:rPr>
                <a:t>（约三成）</a:t>
              </a:r>
              <a:endParaRPr lang="zh-CN" altLang="en-US" b="1" smtClean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275" y="6933"/>
              <a:ext cx="797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与优质医生相比，职称级别和开通年数相近</a:t>
              </a:r>
              <a:endParaRPr lang="zh-CN" altLang="en-US" sz="1600"/>
            </a:p>
            <a:p>
              <a:r>
                <a:rPr lang="zh-CN" altLang="en-US" sz="1600"/>
                <a:t>但活跃度明显偏低，总访问量、病友推荐度亦有所下降</a:t>
              </a:r>
              <a:endParaRPr lang="zh-CN" altLang="en-US" sz="16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153393" y="5083464"/>
            <a:ext cx="6141179" cy="1439371"/>
            <a:chOff x="7797" y="8307"/>
            <a:chExt cx="9966" cy="2493"/>
          </a:xfrm>
        </p:grpSpPr>
        <p:pic>
          <p:nvPicPr>
            <p:cNvPr id="16" name="图片 15"/>
            <p:cNvPicPr/>
            <p:nvPr>
              <p:custDataLst>
                <p:tags r:id="rId6"/>
              </p:custDataLst>
            </p:nvPr>
          </p:nvPicPr>
          <p:blipFill>
            <a:blip r:embed="rId5"/>
            <a:srcRect l="55385" t="9539" r="18080" b="61207"/>
            <a:stretch>
              <a:fillRect/>
            </a:stretch>
          </p:blipFill>
          <p:spPr>
            <a:xfrm>
              <a:off x="7797" y="8307"/>
              <a:ext cx="2366" cy="2493"/>
            </a:xfrm>
            <a:prstGeom prst="ellipse">
              <a:avLst/>
            </a:prstGeom>
            <a:noFill/>
            <a:ln w="9525">
              <a:noFill/>
            </a:ln>
          </p:spPr>
        </p:pic>
        <p:sp>
          <p:nvSpPr>
            <p:cNvPr id="21" name="文本框 20"/>
            <p:cNvSpPr txBox="1"/>
            <p:nvPr/>
          </p:nvSpPr>
          <p:spPr>
            <a:xfrm>
              <a:off x="10313" y="8753"/>
              <a:ext cx="329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b="1" smtClean="0">
                  <a:solidFill>
                    <a:schemeClr val="accent5">
                      <a:lumMod val="75000"/>
                    </a:schemeClr>
                  </a:solidFill>
                </a:rPr>
                <a:t>尾部医生</a:t>
              </a:r>
              <a:r>
                <a:rPr lang="zh-CN" altLang="en-US" b="1" smtClean="0">
                  <a:solidFill>
                    <a:schemeClr val="accent5">
                      <a:lumMod val="75000"/>
                    </a:schemeClr>
                  </a:solidFill>
                </a:rPr>
                <a:t>（约四成）</a:t>
              </a:r>
              <a:endParaRPr lang="zh-CN" altLang="en-US" b="1" smtClean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83" y="9358"/>
              <a:ext cx="7480" cy="1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总访问量最低、开通年数最短</a:t>
              </a:r>
              <a:endParaRPr lang="zh-CN" altLang="en-US" sz="1600"/>
            </a:p>
            <a:p>
              <a:r>
                <a:rPr lang="zh-CN" altLang="en-US" sz="1600">
                  <a:sym typeface="+mn-ea"/>
                </a:rPr>
                <a:t>职称级别、</a:t>
              </a:r>
              <a:r>
                <a:rPr lang="zh-CN" altLang="en-US" sz="1600"/>
                <a:t>活跃度、病友推荐度亦处于最低水平</a:t>
              </a:r>
              <a:endParaRPr lang="zh-CN" altLang="en-US" sz="16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-27305" y="611505"/>
            <a:ext cx="5151120" cy="5844540"/>
            <a:chOff x="-43" y="963"/>
            <a:chExt cx="8112" cy="9204"/>
          </a:xfrm>
        </p:grpSpPr>
        <p:pic>
          <p:nvPicPr>
            <p:cNvPr id="105" name="图片 104"/>
            <p:cNvPicPr/>
            <p:nvPr/>
          </p:nvPicPr>
          <p:blipFill>
            <a:blip r:embed="rId7"/>
            <a:srcRect l="19243" t="16745" r="19432" b="16887"/>
            <a:stretch>
              <a:fillRect/>
            </a:stretch>
          </p:blipFill>
          <p:spPr>
            <a:xfrm>
              <a:off x="-43" y="963"/>
              <a:ext cx="7723" cy="9205"/>
            </a:xfrm>
            <a:prstGeom prst="triangle">
              <a:avLst/>
            </a:prstGeom>
            <a:noFill/>
            <a:ln w="9525">
              <a:noFill/>
            </a:ln>
          </p:spPr>
        </p:pic>
        <p:cxnSp>
          <p:nvCxnSpPr>
            <p:cNvPr id="34" name="直接箭头连接符 33"/>
            <p:cNvCxnSpPr/>
            <p:nvPr/>
          </p:nvCxnSpPr>
          <p:spPr>
            <a:xfrm>
              <a:off x="4294" y="2135"/>
              <a:ext cx="3775" cy="22"/>
            </a:xfrm>
            <a:prstGeom prst="straightConnector1">
              <a:avLst/>
            </a:prstGeom>
            <a:ln w="38100" cmpd="sng">
              <a:solidFill>
                <a:srgbClr val="C2E3F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5222" y="4517"/>
              <a:ext cx="2781" cy="18"/>
            </a:xfrm>
            <a:prstGeom prst="straightConnector1">
              <a:avLst/>
            </a:prstGeom>
            <a:ln w="38100" cmpd="sng">
              <a:solidFill>
                <a:srgbClr val="9BCEDD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6149" y="6754"/>
              <a:ext cx="1920" cy="17"/>
            </a:xfrm>
            <a:prstGeom prst="straightConnector1">
              <a:avLst/>
            </a:prstGeom>
            <a:ln w="38100" cmpd="sng">
              <a:solidFill>
                <a:srgbClr val="7ABFCA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7040" y="8986"/>
              <a:ext cx="1029" cy="4"/>
            </a:xfrm>
            <a:prstGeom prst="straightConnector1">
              <a:avLst/>
            </a:prstGeom>
            <a:ln w="38100" cmpd="sng">
              <a:solidFill>
                <a:srgbClr val="54B0BC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9520440" y="728026"/>
            <a:ext cx="1960360" cy="1998481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5971317" y="720660"/>
            <a:ext cx="3209643" cy="1998481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022758" y="4308993"/>
            <a:ext cx="1671784" cy="5541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240151" y="2881745"/>
            <a:ext cx="11831781" cy="1108364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0152" y="3158836"/>
            <a:ext cx="1320794" cy="544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77991" y="3191375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2014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1" name="左大括号 20"/>
          <p:cNvSpPr/>
          <p:nvPr/>
        </p:nvSpPr>
        <p:spPr>
          <a:xfrm rot="16200000">
            <a:off x="2709692" y="1406305"/>
            <a:ext cx="311796" cy="5250878"/>
          </a:xfrm>
          <a:prstGeom prst="leftBrac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 rot="16200000">
            <a:off x="7385367" y="2036916"/>
            <a:ext cx="222222" cy="3937030"/>
          </a:xfrm>
          <a:prstGeom prst="leftBrac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008916" y="4383728"/>
            <a:ext cx="1736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schemeClr val="bg1"/>
                </a:solidFill>
              </a:rPr>
              <a:t>政策发展阶段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6" name="左大括号 25"/>
          <p:cNvSpPr/>
          <p:nvPr/>
        </p:nvSpPr>
        <p:spPr>
          <a:xfrm rot="16200000">
            <a:off x="10606711" y="2742009"/>
            <a:ext cx="265742" cy="2498436"/>
          </a:xfrm>
          <a:prstGeom prst="leftBrac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6549793" y="4304686"/>
            <a:ext cx="1834543" cy="55418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612151" y="4370640"/>
            <a:ext cx="1764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schemeClr val="bg1"/>
                </a:solidFill>
              </a:rPr>
              <a:t>疫情</a:t>
            </a:r>
            <a:r>
              <a:rPr lang="zh-CN" altLang="en-US" sz="2000" b="1">
                <a:solidFill>
                  <a:schemeClr val="bg1"/>
                </a:solidFill>
              </a:rPr>
              <a:t>突发</a:t>
            </a:r>
            <a:r>
              <a:rPr lang="zh-CN" altLang="en-US" sz="2000" b="1" smtClean="0">
                <a:solidFill>
                  <a:schemeClr val="bg1"/>
                </a:solidFill>
              </a:rPr>
              <a:t>阶段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9824065" y="4293072"/>
            <a:ext cx="1829972" cy="554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560946" y="3163370"/>
            <a:ext cx="1320794" cy="544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755929" y="4350176"/>
            <a:ext cx="209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>
                <a:solidFill>
                  <a:schemeClr val="bg1"/>
                </a:solidFill>
              </a:rPr>
              <a:t>疫情常态化阶段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14940" y="3191377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2015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877138" y="3158668"/>
            <a:ext cx="1320794" cy="544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527963" y="3158668"/>
            <a:ext cx="1320794" cy="54494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17279" y="3182990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2016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202551" y="3160284"/>
            <a:ext cx="1320794" cy="544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410373" y="3182989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2017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844156" y="3158172"/>
            <a:ext cx="1320794" cy="54494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91921" y="3200307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2018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68144" y="3200307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2019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169568" y="3154468"/>
            <a:ext cx="1320794" cy="54494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481142" y="3158172"/>
            <a:ext cx="1320794" cy="54494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384337" y="3199811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2020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705131" y="3182989"/>
            <a:ext cx="10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solidFill>
                  <a:schemeClr val="bg1"/>
                </a:solidFill>
              </a:rPr>
              <a:t>2021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155693" y="720660"/>
            <a:ext cx="3254680" cy="1998480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5952844" y="811959"/>
            <a:ext cx="32096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《关于加强信息化支撑新型冠状病毒感染的肺炎疫情防控工作的通知》</a:t>
            </a:r>
            <a:r>
              <a:rPr lang="zh-CN" altLang="zh-CN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《关于在疫情防控中做好互联网诊疗咨询服务工作的通知》</a:t>
            </a:r>
            <a:r>
              <a:rPr lang="zh-CN" altLang="zh-CN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等重要文件，众多互联网医疗企业迅速行动，通过创新数字化的医疗服务，参与协调与配置医疗资源，在线上购药、在线诊疗、慢病管理等方面，</a:t>
            </a:r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助力</a:t>
            </a:r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疫情</a:t>
            </a:r>
            <a:r>
              <a:rPr lang="zh-CN" altLang="zh-CN" sz="1400" b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在短</a:t>
            </a:r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时间内得到有效控制</a:t>
            </a:r>
            <a:r>
              <a:rPr lang="zh-CN" altLang="zh-CN" sz="1400" b="1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1400" b="1"/>
          </a:p>
        </p:txBody>
      </p:sp>
      <p:sp>
        <p:nvSpPr>
          <p:cNvPr id="44" name="下箭头 43"/>
          <p:cNvSpPr/>
          <p:nvPr/>
        </p:nvSpPr>
        <p:spPr>
          <a:xfrm>
            <a:off x="7944444" y="2719140"/>
            <a:ext cx="655782" cy="4733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520440" y="733749"/>
            <a:ext cx="21335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《关于进一步加强综合医院中医药工作推动中西医协同发展的意见》</a:t>
            </a:r>
            <a:r>
              <a:rPr lang="zh-CN" altLang="zh-CN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，提出设置互联网医院开展互联网医疗服务，鼓励提供互联网中医药诊疗服务，充分体现了新时代我国</a:t>
            </a:r>
            <a:r>
              <a:rPr lang="zh-CN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医疗健康文化自信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下箭头 46"/>
          <p:cNvSpPr/>
          <p:nvPr/>
        </p:nvSpPr>
        <p:spPr>
          <a:xfrm>
            <a:off x="10164643" y="2711138"/>
            <a:ext cx="655782" cy="47330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下箭头 47"/>
          <p:cNvSpPr/>
          <p:nvPr/>
        </p:nvSpPr>
        <p:spPr>
          <a:xfrm>
            <a:off x="7168587" y="4858868"/>
            <a:ext cx="655782" cy="4733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040583" y="5332176"/>
            <a:ext cx="2881742" cy="1015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154906" y="5448412"/>
            <a:ext cx="2767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solidFill>
                  <a:schemeClr val="bg1"/>
                </a:solidFill>
              </a:rPr>
              <a:t>在线诊疗逐渐进入</a:t>
            </a:r>
            <a:r>
              <a:rPr lang="zh-CN" altLang="zh-CN" sz="1600" b="1">
                <a:solidFill>
                  <a:schemeClr val="bg1"/>
                </a:solidFill>
              </a:rPr>
              <a:t>市场理性期</a:t>
            </a:r>
            <a:r>
              <a:rPr lang="zh-CN" altLang="zh-CN" sz="1600">
                <a:solidFill>
                  <a:schemeClr val="bg1"/>
                </a:solidFill>
              </a:rPr>
              <a:t>，新冠疫情黑天鹅推动行业实现突破性进展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624291" y="5332176"/>
            <a:ext cx="2223651" cy="101575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下箭头 51"/>
          <p:cNvSpPr/>
          <p:nvPr/>
        </p:nvSpPr>
        <p:spPr>
          <a:xfrm>
            <a:off x="10448650" y="4839425"/>
            <a:ext cx="655782" cy="47330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9715487" y="5571522"/>
            <a:ext cx="2172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solidFill>
                  <a:schemeClr val="bg1"/>
                </a:solidFill>
              </a:rPr>
              <a:t>政策落实方面更具</a:t>
            </a:r>
            <a:r>
              <a:rPr lang="zh-CN" altLang="zh-CN" sz="1600" b="1">
                <a:solidFill>
                  <a:schemeClr val="bg1"/>
                </a:solidFill>
              </a:rPr>
              <a:t>时代性、针对性</a:t>
            </a:r>
            <a:r>
              <a:rPr lang="zh-CN" altLang="zh-CN" sz="1600">
                <a:solidFill>
                  <a:schemeClr val="bg1"/>
                </a:solidFill>
              </a:rPr>
              <a:t>也更强。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36266" y="5332176"/>
            <a:ext cx="2881742" cy="1015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下箭头 54"/>
          <p:cNvSpPr/>
          <p:nvPr/>
        </p:nvSpPr>
        <p:spPr>
          <a:xfrm>
            <a:off x="2530759" y="4865613"/>
            <a:ext cx="655782" cy="4733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570808" y="5427927"/>
            <a:ext cx="2767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</a:rPr>
              <a:t>互联网医疗政策在国家层面正式提出，但仍处于</a:t>
            </a:r>
            <a:r>
              <a:rPr lang="zh-CN" altLang="en-US" sz="1600" b="1">
                <a:solidFill>
                  <a:schemeClr val="bg1"/>
                </a:solidFill>
              </a:rPr>
              <a:t>不稳定状态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143604" y="927047"/>
            <a:ext cx="326676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/>
              <a:t>《</a:t>
            </a:r>
            <a:r>
              <a:rPr lang="zh-CN" altLang="en-US" sz="1400" b="1"/>
              <a:t>关于积极推进“互联网</a:t>
            </a:r>
            <a:r>
              <a:rPr lang="en-US" altLang="zh-CN" sz="1400" b="1"/>
              <a:t>+”</a:t>
            </a:r>
            <a:r>
              <a:rPr lang="zh-CN" altLang="en-US" sz="1400" b="1"/>
              <a:t>行动的指导意见</a:t>
            </a:r>
            <a:r>
              <a:rPr lang="en-US" altLang="zh-CN" sz="1400" b="1"/>
              <a:t>》</a:t>
            </a:r>
            <a:r>
              <a:rPr lang="zh-CN" altLang="en-US" sz="1400"/>
              <a:t>，其中明确指出基于互联网的医疗卫生服务来</a:t>
            </a:r>
            <a:r>
              <a:rPr lang="zh-CN" altLang="en-US" sz="1400" b="1"/>
              <a:t>推广</a:t>
            </a:r>
            <a:r>
              <a:rPr lang="zh-CN" altLang="en-US" sz="1400"/>
              <a:t>在线医疗卫生新模式。支持第三方机构构建医学影像、健康档案、检验报告、电子病历</a:t>
            </a:r>
            <a:r>
              <a:rPr lang="zh-CN" altLang="en-US" sz="1400"/>
              <a:t>等</a:t>
            </a:r>
            <a:r>
              <a:rPr lang="zh-CN" altLang="en-US" sz="1400" smtClean="0"/>
              <a:t>医疗信息共享</a:t>
            </a:r>
            <a:r>
              <a:rPr lang="zh-CN" altLang="en-US" sz="1400"/>
              <a:t>服务平台，逐步建立跨医院的医疗数据共享交换标准体系。</a:t>
            </a:r>
            <a:endParaRPr lang="zh-CN" altLang="en-US" sz="1400"/>
          </a:p>
        </p:txBody>
      </p:sp>
      <p:sp>
        <p:nvSpPr>
          <p:cNvPr id="58" name="下箭头 57"/>
          <p:cNvSpPr/>
          <p:nvPr/>
        </p:nvSpPr>
        <p:spPr>
          <a:xfrm>
            <a:off x="2159607" y="2726507"/>
            <a:ext cx="655782" cy="47330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圖表 3"/>
          <p:cNvGraphicFramePr/>
          <p:nvPr/>
        </p:nvGraphicFramePr>
        <p:xfrm>
          <a:off x="900112" y="295275"/>
          <a:ext cx="10391775" cy="626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55725" y="1555298"/>
            <a:ext cx="1815465" cy="944880"/>
            <a:chOff x="8630" y="940"/>
            <a:chExt cx="5108" cy="817"/>
          </a:xfrm>
        </p:grpSpPr>
        <p:sp>
          <p:nvSpPr>
            <p:cNvPr id="19" name="圆角矩形 18"/>
            <p:cNvSpPr/>
            <p:nvPr/>
          </p:nvSpPr>
          <p:spPr>
            <a:xfrm>
              <a:off x="8630" y="940"/>
              <a:ext cx="5108" cy="81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991" y="1084"/>
              <a:ext cx="4747" cy="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爬取三个城市所有医院的ID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667760" y="1558290"/>
            <a:ext cx="2165985" cy="944880"/>
            <a:chOff x="8440" y="964"/>
            <a:chExt cx="7353" cy="1157"/>
          </a:xfrm>
        </p:grpSpPr>
        <p:sp>
          <p:nvSpPr>
            <p:cNvPr id="33" name="圆角矩形 32"/>
            <p:cNvSpPr/>
            <p:nvPr>
              <p:custDataLst>
                <p:tags r:id="rId1"/>
              </p:custDataLst>
            </p:nvPr>
          </p:nvSpPr>
          <p:spPr>
            <a:xfrm>
              <a:off x="8630" y="964"/>
              <a:ext cx="7163" cy="11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2"/>
              </p:custDataLst>
            </p:nvPr>
          </p:nvSpPr>
          <p:spPr>
            <a:xfrm>
              <a:off x="8440" y="1160"/>
              <a:ext cx="7353" cy="8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bg1"/>
                  </a:solidFill>
                </a:rPr>
                <a:t>   </a:t>
              </a:r>
              <a:r>
                <a:rPr lang="zh-CN" altLang="en-US">
                  <a:solidFill>
                    <a:schemeClr val="bg1"/>
                  </a:solidFill>
                </a:rPr>
                <a:t>访问</a:t>
              </a:r>
              <a:r>
                <a:rPr lang="zh-CN" altLang="en-US">
                  <a:solidFill>
                    <a:schemeClr val="bg1"/>
                  </a:solidFill>
                </a:rPr>
                <a:t>某医院主页</a:t>
              </a:r>
              <a:endParaRPr lang="zh-CN" altLang="en-US">
                <a:solidFill>
                  <a:schemeClr val="bg1"/>
                </a:solidFill>
              </a:endParaRPr>
            </a:p>
            <a:p>
              <a:r>
                <a:rPr lang="zh-CN" altLang="en-US" sz="1600">
                  <a:solidFill>
                    <a:schemeClr val="bg1"/>
                  </a:solidFill>
                </a:rPr>
                <a:t>（获取医院基本信息）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211570" y="2826385"/>
            <a:ext cx="2192020" cy="977900"/>
            <a:chOff x="8630" y="964"/>
            <a:chExt cx="7441" cy="1157"/>
          </a:xfrm>
        </p:grpSpPr>
        <p:sp>
          <p:nvSpPr>
            <p:cNvPr id="36" name="圆角矩形 35"/>
            <p:cNvSpPr/>
            <p:nvPr>
              <p:custDataLst>
                <p:tags r:id="rId3"/>
              </p:custDataLst>
            </p:nvPr>
          </p:nvSpPr>
          <p:spPr>
            <a:xfrm>
              <a:off x="8630" y="964"/>
              <a:ext cx="7163" cy="11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>
              <p:custDataLst>
                <p:tags r:id="rId4"/>
              </p:custDataLst>
            </p:nvPr>
          </p:nvSpPr>
          <p:spPr>
            <a:xfrm>
              <a:off x="8718" y="1177"/>
              <a:ext cx="7353" cy="8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chemeClr val="bg1"/>
                  </a:solidFill>
                </a:rPr>
                <a:t>访问该医生的主页</a:t>
              </a:r>
              <a:endParaRPr lang="zh-CN" altLang="en-US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>
                  <a:solidFill>
                    <a:schemeClr val="bg1"/>
                  </a:solidFill>
                </a:rPr>
                <a:t>（获取医生基本信息）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193790" y="4159885"/>
            <a:ext cx="2165985" cy="978535"/>
            <a:chOff x="8561" y="964"/>
            <a:chExt cx="7353" cy="1157"/>
          </a:xfrm>
        </p:grpSpPr>
        <p:sp>
          <p:nvSpPr>
            <p:cNvPr id="39" name="圆角矩形 38"/>
            <p:cNvSpPr/>
            <p:nvPr>
              <p:custDataLst>
                <p:tags r:id="rId5"/>
              </p:custDataLst>
            </p:nvPr>
          </p:nvSpPr>
          <p:spPr>
            <a:xfrm>
              <a:off x="8630" y="964"/>
              <a:ext cx="7163" cy="11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>
              <p:custDataLst>
                <p:tags r:id="rId6"/>
              </p:custDataLst>
            </p:nvPr>
          </p:nvSpPr>
          <p:spPr>
            <a:xfrm>
              <a:off x="8561" y="1164"/>
              <a:ext cx="7353" cy="7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该医生的问诊页面</a:t>
              </a:r>
              <a:endParaRPr lang="zh-CN" altLang="en-US">
                <a:solidFill>
                  <a:schemeClr val="bg1"/>
                </a:solidFill>
              </a:endParaRPr>
            </a:p>
            <a:p>
              <a:r>
                <a:rPr lang="zh-CN" altLang="en-US" sz="1600">
                  <a:solidFill>
                    <a:schemeClr val="bg1"/>
                  </a:solidFill>
                </a:rPr>
                <a:t>（获取问诊方面数据）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cxnSp>
        <p:nvCxnSpPr>
          <p:cNvPr id="41" name="直接箭头连接符 40"/>
          <p:cNvCxnSpPr/>
          <p:nvPr>
            <p:custDataLst>
              <p:tags r:id="rId7"/>
            </p:custDataLst>
          </p:nvPr>
        </p:nvCxnSpPr>
        <p:spPr>
          <a:xfrm flipH="1">
            <a:off x="4772025" y="2446020"/>
            <a:ext cx="6985" cy="440055"/>
          </a:xfrm>
          <a:prstGeom prst="straightConnector1">
            <a:avLst/>
          </a:prstGeom>
          <a:ln w="38100" cmpd="sng">
            <a:solidFill>
              <a:srgbClr val="2F559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45" idx="3"/>
          </p:cNvCxnSpPr>
          <p:nvPr>
            <p:custDataLst>
              <p:tags r:id="rId8"/>
            </p:custDataLst>
          </p:nvPr>
        </p:nvCxnSpPr>
        <p:spPr>
          <a:xfrm flipV="1">
            <a:off x="5819140" y="3321685"/>
            <a:ext cx="337185" cy="3175"/>
          </a:xfrm>
          <a:prstGeom prst="straightConnector1">
            <a:avLst/>
          </a:prstGeom>
          <a:ln w="38100" cmpd="sng">
            <a:solidFill>
              <a:srgbClr val="2F559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>
            <p:custDataLst>
              <p:tags r:id="rId9"/>
            </p:custDataLst>
          </p:nvPr>
        </p:nvCxnSpPr>
        <p:spPr>
          <a:xfrm flipV="1">
            <a:off x="3171190" y="2042795"/>
            <a:ext cx="506730" cy="1905"/>
          </a:xfrm>
          <a:prstGeom prst="straightConnector1">
            <a:avLst/>
          </a:prstGeom>
          <a:ln w="38100" cmpd="sng">
            <a:solidFill>
              <a:srgbClr val="2F559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/>
        </p:nvGrpSpPr>
        <p:grpSpPr>
          <a:xfrm>
            <a:off x="3724910" y="2846070"/>
            <a:ext cx="2094230" cy="957580"/>
            <a:chOff x="8630" y="964"/>
            <a:chExt cx="7163" cy="1157"/>
          </a:xfrm>
        </p:grpSpPr>
        <p:sp>
          <p:nvSpPr>
            <p:cNvPr id="45" name="圆角矩形 44"/>
            <p:cNvSpPr/>
            <p:nvPr>
              <p:custDataLst>
                <p:tags r:id="rId10"/>
              </p:custDataLst>
            </p:nvPr>
          </p:nvSpPr>
          <p:spPr>
            <a:xfrm>
              <a:off x="8630" y="964"/>
              <a:ext cx="7163" cy="11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8633" y="1142"/>
              <a:ext cx="6890" cy="7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爬取该医院</a:t>
              </a:r>
              <a:endParaRPr lang="zh-CN" altLang="en-US">
                <a:solidFill>
                  <a:schemeClr val="bg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某位医生</a:t>
              </a:r>
              <a:r>
                <a:rPr lang="en-US" altLang="zh-CN">
                  <a:solidFill>
                    <a:schemeClr val="bg1"/>
                  </a:solidFill>
                </a:rPr>
                <a:t>ID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cxnSp>
        <p:nvCxnSpPr>
          <p:cNvPr id="47" name="直接箭头连接符 46"/>
          <p:cNvCxnSpPr>
            <a:stCxn id="40" idx="3"/>
            <a:endCxn id="58" idx="1"/>
          </p:cNvCxnSpPr>
          <p:nvPr>
            <p:custDataLst>
              <p:tags r:id="rId12"/>
            </p:custDataLst>
          </p:nvPr>
        </p:nvCxnSpPr>
        <p:spPr>
          <a:xfrm>
            <a:off x="8359775" y="4651375"/>
            <a:ext cx="557530" cy="5715"/>
          </a:xfrm>
          <a:prstGeom prst="straightConnector1">
            <a:avLst/>
          </a:prstGeom>
          <a:ln w="38100" cmpd="sng">
            <a:solidFill>
              <a:srgbClr val="2F559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9" idx="0"/>
          </p:cNvCxnSpPr>
          <p:nvPr>
            <p:custDataLst>
              <p:tags r:id="rId13"/>
            </p:custDataLst>
          </p:nvPr>
        </p:nvCxnSpPr>
        <p:spPr>
          <a:xfrm>
            <a:off x="7266940" y="3804285"/>
            <a:ext cx="2540" cy="355600"/>
          </a:xfrm>
          <a:prstGeom prst="straightConnector1">
            <a:avLst/>
          </a:prstGeom>
          <a:ln w="38100" cmpd="sng">
            <a:solidFill>
              <a:srgbClr val="2F559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8917609" y="4184561"/>
            <a:ext cx="1319530" cy="944880"/>
            <a:chOff x="8260" y="924"/>
            <a:chExt cx="5108" cy="817"/>
          </a:xfrm>
        </p:grpSpPr>
        <p:sp>
          <p:nvSpPr>
            <p:cNvPr id="58" name="圆角矩形 57"/>
            <p:cNvSpPr/>
            <p:nvPr>
              <p:custDataLst>
                <p:tags r:id="rId14"/>
              </p:custDataLst>
            </p:nvPr>
          </p:nvSpPr>
          <p:spPr>
            <a:xfrm>
              <a:off x="8260" y="924"/>
              <a:ext cx="5108" cy="81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>
              <p:custDataLst>
                <p:tags r:id="rId15"/>
              </p:custDataLst>
            </p:nvPr>
          </p:nvSpPr>
          <p:spPr>
            <a:xfrm>
              <a:off x="8360" y="1097"/>
              <a:ext cx="4747" cy="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进行循环</a:t>
              </a:r>
              <a:endParaRPr lang="zh-CN" altLang="en-US">
                <a:solidFill>
                  <a:schemeClr val="bg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bg1"/>
                  </a:solidFill>
                </a:rPr>
                <a:t>……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468,&quot;width&quot;:8318}"/>
</p:tagLst>
</file>

<file path=ppt/tags/tag2.xml><?xml version="1.0" encoding="utf-8"?>
<p:tagLst xmlns:p="http://schemas.openxmlformats.org/presentationml/2006/main">
  <p:tag name="KSO_WM_UNIT_PLACING_PICTURE_USER_VIEWPORT" val="{&quot;height&quot;:3468,&quot;width&quot;:8318}"/>
</p:tagLst>
</file>

<file path=ppt/tags/tag3.xml><?xml version="1.0" encoding="utf-8"?>
<p:tagLst xmlns:p="http://schemas.openxmlformats.org/presentationml/2006/main">
  <p:tag name="KSO_WM_UNIT_PLACING_PICTURE_USER_VIEWPORT" val="{&quot;height&quot;:16350,&quot;width&quot;:18420}"/>
</p:tagLst>
</file>

<file path=ppt/tags/tag4.xml><?xml version="1.0" encoding="utf-8"?>
<p:tagLst xmlns:p="http://schemas.openxmlformats.org/presentationml/2006/main">
  <p:tag name="KSO_WM_UNIT_PLACING_PICTURE_USER_VIEWPORT" val="{&quot;height&quot;:16350,&quot;width&quot;:18420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PP_MARK_KEY" val="46724a7e-61ed-4595-907a-1b746c326e9a"/>
  <p:tag name="COMMONDATA" val="eyJoZGlkIjoiNDE2ZDk4NWY4ODRmYmJmOWVkNjJlODU1YzZjYzc1Z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1941</Words>
  <Application>WPS 演示</Application>
  <PresentationFormat>宽屏</PresentationFormat>
  <Paragraphs>269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楷体</vt:lpstr>
      <vt:lpstr>Times New Roman</vt:lpstr>
      <vt:lpstr>仿宋</vt:lpstr>
      <vt:lpstr>等线</vt:lpstr>
      <vt:lpstr>微软雅黑</vt:lpstr>
      <vt:lpstr>Arial Unicode MS</vt:lpstr>
      <vt:lpstr>等线 Light</vt:lpstr>
      <vt:lpstr>Calibri</vt:lpstr>
      <vt:lpstr>阿里妈妈数黑体</vt:lpstr>
      <vt:lpstr>字体圈伟君黑 W1</vt:lpstr>
      <vt:lpstr>仓迹高德国妙黑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b165</cp:lastModifiedBy>
  <cp:revision>104</cp:revision>
  <dcterms:created xsi:type="dcterms:W3CDTF">2023-02-21T10:32:00Z</dcterms:created>
  <dcterms:modified xsi:type="dcterms:W3CDTF">2023-06-27T14:26:56Z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B26DF64CF33749DBBF3E8AC0401E4C4E</vt:lpwstr>
  </property>
  <property fmtid="{D5CDD505-2E9C-101B-9397-08002B2CF9AE}" pid="3" name="KSOProductBuildVer">
    <vt:lpwstr>2052-11.1.0.14309</vt:lpwstr>
  </property>
</Properties>
</file>